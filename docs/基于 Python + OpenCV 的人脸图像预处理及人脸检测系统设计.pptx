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80" r:id="rId19"/>
    <p:sldId id="270" r:id="rId20"/>
    <p:sldId id="281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6256000" cy="9144000"/>
  <p:notesSz cx="9144000" cy="16256000"/>
  <p:embeddedFontLst>
    <p:embeddedFont>
      <p:font typeface="Calibri" panose="020F0502020204030204" charset="0"/>
      <p:regular r:id="rId34"/>
      <p:bold r:id="rId35"/>
      <p:italic r:id="rId36"/>
      <p:boldItalic r:id="rId37"/>
    </p:embeddedFont>
    <p:embeddedFont>
      <p:font typeface="Consolas" panose="020B0609020204030204" pitchFamily="34" charset="0"/>
      <p:regular r:id="rId38"/>
      <p:bold r:id="rId39"/>
      <p:italic r:id="rId40"/>
      <p:boldItalic r:id="rId41"/>
    </p:embeddedFont>
    <p:embeddedFont>
      <p:font typeface="Consolas" panose="020B0609020204030204" pitchFamily="34" charset="-122"/>
      <p:regular r:id="rId42"/>
      <p:bold r:id="rId43"/>
      <p:italic r:id="rId44"/>
      <p:boldItalic r:id="rId45"/>
    </p:embeddedFont>
    <p:embeddedFont>
      <p:font typeface="Consolas" panose="020B0609020204030204" pitchFamily="34" charset="-120"/>
      <p:regular r:id="rId46"/>
      <p:bold r:id="rId47"/>
      <p:italic r:id="rId48"/>
      <p:boldItalic r:id="rId4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9" Type="http://schemas.openxmlformats.org/officeDocument/2006/relationships/font" Target="fonts/font16.fntdata"/><Relationship Id="rId48" Type="http://schemas.openxmlformats.org/officeDocument/2006/relationships/font" Target="fonts/font15.fntdata"/><Relationship Id="rId47" Type="http://schemas.openxmlformats.org/officeDocument/2006/relationships/font" Target="fonts/font14.fntdata"/><Relationship Id="rId46" Type="http://schemas.openxmlformats.org/officeDocument/2006/relationships/font" Target="fonts/font13.fntdata"/><Relationship Id="rId45" Type="http://schemas.openxmlformats.org/officeDocument/2006/relationships/font" Target="fonts/font12.fntdata"/><Relationship Id="rId44" Type="http://schemas.openxmlformats.org/officeDocument/2006/relationships/font" Target="fonts/font11.fntdata"/><Relationship Id="rId43" Type="http://schemas.openxmlformats.org/officeDocument/2006/relationships/font" Target="fonts/font10.fntdata"/><Relationship Id="rId42" Type="http://schemas.openxmlformats.org/officeDocument/2006/relationships/font" Target="fonts/font9.fntdata"/><Relationship Id="rId41" Type="http://schemas.openxmlformats.org/officeDocument/2006/relationships/font" Target="fonts/font8.fntdata"/><Relationship Id="rId40" Type="http://schemas.openxmlformats.org/officeDocument/2006/relationships/font" Target="fonts/font7.fntdata"/><Relationship Id="rId4" Type="http://schemas.openxmlformats.org/officeDocument/2006/relationships/slide" Target="slides/slide1.xml"/><Relationship Id="rId39" Type="http://schemas.openxmlformats.org/officeDocument/2006/relationships/font" Target="fonts/font6.fntdata"/><Relationship Id="rId38" Type="http://schemas.openxmlformats.org/officeDocument/2006/relationships/font" Target="fonts/font5.fntdata"/><Relationship Id="rId37" Type="http://schemas.openxmlformats.org/officeDocument/2006/relationships/font" Target="fonts/font4.fntdata"/><Relationship Id="rId36" Type="http://schemas.openxmlformats.org/officeDocument/2006/relationships/font" Target="fonts/font3.fntdata"/><Relationship Id="rId35" Type="http://schemas.openxmlformats.org/officeDocument/2006/relationships/font" Target="fonts/font2.fntdata"/><Relationship Id="rId34" Type="http://schemas.openxmlformats.org/officeDocument/2006/relationships/font" Target="fonts/font1.fntdata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B1012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C1D1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4098" y="8612428"/>
            <a:ext cx="1905499" cy="455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B1012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C1D1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4098" y="8612428"/>
            <a:ext cx="1905499" cy="45516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1625600" rtl="0" eaLnBrk="1" latinLnBrk="0" hangingPunct="1">
        <a:spcBef>
          <a:spcPct val="0"/>
        </a:spcBef>
        <a:buNone/>
        <a:defRPr sz="78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0" indent="-609600" algn="l" defTabSz="1625600" rtl="0" eaLnBrk="1" latinLnBrk="0" hangingPunct="1">
        <a:spcBef>
          <a:spcPts val="175"/>
        </a:spcBef>
        <a:buFont typeface="Arial" panose="020B0604020202020204" pitchFamily="34" charset="0"/>
        <a:buChar char="•"/>
        <a:defRPr sz="5690" kern="1200">
          <a:solidFill>
            <a:schemeClr val="tx1"/>
          </a:solidFill>
          <a:latin typeface="+mn-lt"/>
          <a:ea typeface="+mn-ea"/>
          <a:cs typeface="+mn-cs"/>
        </a:defRPr>
      </a:lvl1pPr>
      <a:lvl2pPr marL="1320800" indent="-508000" algn="l" defTabSz="1625600" rtl="0" eaLnBrk="1" latinLnBrk="0" hangingPunct="1">
        <a:spcBef>
          <a:spcPts val="175"/>
        </a:spcBef>
        <a:buFont typeface="Arial" panose="020B0604020202020204" pitchFamily="34" charset="0"/>
        <a:buChar char="–"/>
        <a:defRPr sz="4980" kern="1200">
          <a:solidFill>
            <a:schemeClr val="tx1"/>
          </a:solidFill>
          <a:latin typeface="+mn-lt"/>
          <a:ea typeface="+mn-ea"/>
          <a:cs typeface="+mn-cs"/>
        </a:defRPr>
      </a:lvl2pPr>
      <a:lvl3pPr marL="20320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3pPr>
      <a:lvl4pPr marL="28448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–"/>
        <a:defRPr sz="3555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»"/>
        <a:defRPr sz="3555" kern="1200">
          <a:solidFill>
            <a:schemeClr val="tx1"/>
          </a:solidFill>
          <a:latin typeface="+mn-lt"/>
          <a:ea typeface="+mn-ea"/>
          <a:cs typeface="+mn-cs"/>
        </a:defRPr>
      </a:lvl5pPr>
      <a:lvl6pPr marL="44704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6pPr>
      <a:lvl7pPr marL="52832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7pPr>
      <a:lvl8pPr marL="60960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8pPr>
      <a:lvl9pPr marL="6908800" indent="-406400" algn="l" defTabSz="1625600" rtl="0" eaLnBrk="1" latinLnBrk="0" hangingPunct="1">
        <a:spcBef>
          <a:spcPts val="175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8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4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2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0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8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6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400" algn="l" defTabSz="162560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0" Type="http://schemas.openxmlformats.org/officeDocument/2006/relationships/notesSlide" Target="../notesSlides/notesSlide12.xml"/><Relationship Id="rId3" Type="http://schemas.openxmlformats.org/officeDocument/2006/relationships/tags" Target="../tags/tag3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docs.opencv.org/4.x/d4/d1b/tutorial_histogram_equalization.html" TargetMode="External"/><Relationship Id="rId1" Type="http://schemas.openxmlformats.org/officeDocument/2006/relationships/hyperlink" Target="https://docs.opencv.org/4.x/db/d28/tutorial_cascade_classifier.html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uo3dzywvqyc6/mnt/agents/output/face_detection_ppt/images/7_5_000_Face_Recognition_Computer_Stock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0" y="0"/>
            <a:ext cx="863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20000" y="0"/>
            <a:ext cx="8636000" cy="9144000"/>
          </a:xfrm>
          <a:prstGeom prst="rect">
            <a:avLst/>
          </a:prstGeom>
          <a:gradFill flip="none" rotWithShape="1">
            <a:gsLst>
              <a:gs pos="0">
                <a:srgbClr val="1A1C23"/>
              </a:gs>
              <a:gs pos="35000">
                <a:srgbClr val="1A1C23">
                  <a:alpha val="80000"/>
                </a:srgbClr>
              </a:gs>
              <a:gs pos="70000">
                <a:srgbClr val="1A1C23">
                  <a:alpha val="40000"/>
                </a:srgbClr>
              </a:gs>
              <a:gs pos="100000">
                <a:srgbClr val="1A1C23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762000" y="2794000"/>
            <a:ext cx="3286125" cy="387350"/>
          </a:xfrm>
          <a:prstGeom prst="roundRect">
            <a:avLst>
              <a:gd name="adj" fmla="val 8000"/>
            </a:avLst>
          </a:prstGeom>
          <a:solidFill>
            <a:srgbClr val="6B7FD7"/>
          </a:solidFill>
        </p:spPr>
      </p:sp>
      <p:sp>
        <p:nvSpPr>
          <p:cNvPr id="5" name="Text 2"/>
          <p:cNvSpPr/>
          <p:nvPr/>
        </p:nvSpPr>
        <p:spPr>
          <a:xfrm>
            <a:off x="763270" y="2819400"/>
            <a:ext cx="3249295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zh-CN" altLang="en-US" sz="16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  <a:sym typeface="+mn-ea"/>
              </a:rPr>
              <a:t>数字图像处理与机器视觉课程设计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62000" y="3429000"/>
            <a:ext cx="6858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 Python + OpenCV 的人脸图像预处理及人脸检测系统设计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53340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数字图像处理与机器视觉课程设计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62000" y="5969000"/>
            <a:ext cx="1016000" cy="381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9" name="Text 6"/>
          <p:cNvSpPr/>
          <p:nvPr/>
        </p:nvSpPr>
        <p:spPr>
          <a:xfrm>
            <a:off x="762000" y="6223000"/>
            <a:ext cx="5715000" cy="20897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姓名：唐宇正　　学号：20234080415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小组成员：</a:t>
            </a:r>
            <a:r>
              <a:rPr lang="en-US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张竟峰 尹士嘉 周楷</a:t>
            </a:r>
            <a:endParaRPr lang="en-US" dirty="0">
              <a:solidFill>
                <a:srgbClr val="E8EAF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l">
              <a:lnSpc>
                <a:spcPct val="180000"/>
              </a:lnSpc>
            </a:pPr>
            <a:r>
              <a:rPr lang="en-US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班级：23数据04班</a:t>
            </a:r>
            <a:endParaRPr lang="en-US" dirty="0">
              <a:solidFill>
                <a:srgbClr val="E8EAF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l">
              <a:lnSpc>
                <a:spcPct val="180000"/>
              </a:lnSpc>
            </a:pPr>
            <a:r>
              <a:rPr lang="en-US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日期：2026年7月5日</a:t>
            </a:r>
            <a:endParaRPr lang="en-US" sz="1800" dirty="0">
              <a:solidFill>
                <a:srgbClr val="E8EAF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55600"/>
          </a:xfrm>
          <a:prstGeom prst="roundRect">
            <a:avLst>
              <a:gd name="adj" fmla="val 8000"/>
            </a:avLst>
          </a:prstGeom>
          <a:solidFill>
            <a:srgbClr val="6B7FD7"/>
          </a:solidFill>
        </p:spPr>
      </p:sp>
      <p:sp>
        <p:nvSpPr>
          <p:cNvPr id="3" name="Text 1"/>
          <p:cNvSpPr/>
          <p:nvPr/>
        </p:nvSpPr>
        <p:spPr>
          <a:xfrm>
            <a:off x="762000" y="635000"/>
            <a:ext cx="101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206500"/>
            <a:ext cx="3810000" cy="571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汇报提纲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635000" cy="381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6" name="Text 4"/>
          <p:cNvSpPr/>
          <p:nvPr/>
        </p:nvSpPr>
        <p:spPr>
          <a:xfrm>
            <a:off x="762000" y="2413000"/>
            <a:ext cx="6985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6B7FD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24000" y="2413000"/>
            <a:ext cx="4445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课题背景与目标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24000" y="2870200"/>
            <a:ext cx="4445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应用场景、实际挑战与设计目标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3492500"/>
            <a:ext cx="6985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6B7FD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24000" y="3492500"/>
            <a:ext cx="4445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相关技术与理论基础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24000" y="3949700"/>
            <a:ext cx="4445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图像预处理算法与 Haar 检测理论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2000" y="4622800"/>
            <a:ext cx="6985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6B7FD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24000" y="4622800"/>
            <a:ext cx="4445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系统设计与实现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24000" y="5080000"/>
            <a:ext cx="4445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模块化架构与核心算法实现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2000" y="5753100"/>
            <a:ext cx="6985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6B7FD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24000" y="5753100"/>
            <a:ext cx="4445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参数优化与实验分析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24000" y="6210300"/>
            <a:ext cx="4445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参数搜索策略与实验结果评估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2000" y="6883400"/>
            <a:ext cx="6985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6B7FD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524000" y="6883400"/>
            <a:ext cx="4445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问题总结与展望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24000" y="7340600"/>
            <a:ext cx="4445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遇到的问题、解决方案与未来方向</a:t>
            </a:r>
            <a:endParaRPr lang="en-US" sz="1400" dirty="0"/>
          </a:p>
        </p:txBody>
      </p:sp>
      <p:pic>
        <p:nvPicPr>
          <p:cNvPr id="21" name="Image 0" descr="https://kimi-img.moonshot.cn/pub/slides/okc/muo3dzywvqyc6/mnt/agents/output/face_detection_ppt/images/1_Face_Recognition_Black_Background.png"/>
          <p:cNvPicPr>
            <a:picLocks noChangeAspect="1"/>
          </p:cNvPicPr>
          <p:nvPr/>
        </p:nvPicPr>
        <p:blipFill>
          <a:blip r:embed="rId1"/>
          <a:srcRect b="8077"/>
          <a:stretch>
            <a:fillRect/>
          </a:stretch>
        </p:blipFill>
        <p:spPr>
          <a:xfrm>
            <a:off x="8255000" y="1270000"/>
            <a:ext cx="7239000" cy="6070600"/>
          </a:xfrm>
          <a:prstGeom prst="roundRect">
            <a:avLst>
              <a:gd name="adj" fmla="val 8000"/>
            </a:avLst>
          </a:prstGeom>
        </p:spPr>
      </p:pic>
      <p:sp>
        <p:nvSpPr>
          <p:cNvPr id="22" name="Shape 1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23" name="Text 20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uo3dzywvqyc6/mnt/agents/output/face_detection_ppt/images/4_3_424_Face_Recognition_Black_Backgroun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890000" y="0"/>
            <a:ext cx="736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890000" y="0"/>
            <a:ext cx="7366000" cy="9144000"/>
          </a:xfrm>
          <a:prstGeom prst="rect">
            <a:avLst/>
          </a:prstGeom>
          <a:gradFill flip="none" rotWithShape="1">
            <a:gsLst>
              <a:gs pos="0">
                <a:srgbClr val="1A1C23"/>
              </a:gs>
              <a:gs pos="40000">
                <a:srgbClr val="1A1C23">
                  <a:alpha val="80000"/>
                </a:srgbClr>
              </a:gs>
              <a:gs pos="100000">
                <a:srgbClr val="1A1C23">
                  <a:alpha val="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762000" y="2540000"/>
            <a:ext cx="254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6B7FD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746500"/>
            <a:ext cx="762000" cy="508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6" name="Text 3"/>
          <p:cNvSpPr/>
          <p:nvPr/>
        </p:nvSpPr>
        <p:spPr>
          <a:xfrm>
            <a:off x="762000" y="4064000"/>
            <a:ext cx="635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课题背景与目标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889500"/>
            <a:ext cx="6350000" cy="44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人脸检测的应用场景、实际挑战与设计目标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9" name="Text 6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6B7FD7"/>
          </a:solidFill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课题背景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6350000" cy="533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项目背景与设计意义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635000" cy="381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6" name="Text 4"/>
          <p:cNvSpPr/>
          <p:nvPr/>
        </p:nvSpPr>
        <p:spPr>
          <a:xfrm>
            <a:off x="762000" y="1968500"/>
            <a:ext cx="7620000" cy="495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人脸检测</a:t>
            </a: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是人脸识别、门禁考勤、相册整理、驾驶员状态分析等应用的前置步骤，需先从整幅图像中确定人脸位置。</a:t>
            </a:r>
            <a:endParaRPr lang="en-US" sz="1800" dirty="0"/>
          </a:p>
          <a:p>
            <a:pPr algn="l"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实际采集图像往往受到多种因素影响：</a:t>
            </a:r>
            <a:endParaRPr lang="en-US" sz="1800" dirty="0"/>
          </a:p>
          <a:p>
            <a:pPr algn="l">
              <a:lnSpc>
                <a:spcPct val="18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8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照明不均</a:t>
            </a: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与曝光不足导致特征减弱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8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传感器噪声</a:t>
            </a: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干扰局部纹理信息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8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背景纹理复杂</a:t>
            </a: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增加误检风险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8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拍摄距离和姿态变化</a:t>
            </a: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导致尺度差异</a:t>
            </a:r>
            <a:endParaRPr lang="en-US" sz="1800" dirty="0"/>
          </a:p>
          <a:p>
            <a:pPr algn="l"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本课题选用 </a:t>
            </a:r>
            <a:r>
              <a:rPr lang="en-US" sz="18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Haar 级联分类器</a:t>
            </a: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，通过合理预处理、参数实验认识算法能力边界。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890000" y="1968500"/>
            <a:ext cx="6604000" cy="12065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8" name="Shape 6"/>
          <p:cNvSpPr/>
          <p:nvPr/>
        </p:nvSpPr>
        <p:spPr>
          <a:xfrm>
            <a:off x="9144000" y="23241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6B7FD7"/>
          </a:solidFill>
        </p:spPr>
      </p:sp>
      <p:sp>
        <p:nvSpPr>
          <p:cNvPr id="9" name="Text 7"/>
          <p:cNvSpPr/>
          <p:nvPr/>
        </p:nvSpPr>
        <p:spPr>
          <a:xfrm>
            <a:off x="9842500" y="2133600"/>
            <a:ext cx="5334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门禁安防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42500" y="2514600"/>
            <a:ext cx="53340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快速身份验证与出入控制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890000" y="3200400"/>
            <a:ext cx="6604000" cy="1143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12" name="Shape 10"/>
          <p:cNvSpPr/>
          <p:nvPr/>
        </p:nvSpPr>
        <p:spPr>
          <a:xfrm>
            <a:off x="9144000" y="336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8348" y="51435"/>
                </a:moveTo>
                <a:lnTo>
                  <a:pt x="110093" y="76200"/>
                </a:lnTo>
                <a:lnTo>
                  <a:pt x="50800" y="76200"/>
                </a:lnTo>
                <a:cubicBezTo>
                  <a:pt x="22781" y="76200"/>
                  <a:pt x="0" y="98981"/>
                  <a:pt x="0" y="1270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55600" y="381000"/>
                </a:lnTo>
                <a:cubicBezTo>
                  <a:pt x="383619" y="381000"/>
                  <a:pt x="406400" y="358219"/>
                  <a:pt x="406400" y="330200"/>
                </a:cubicBezTo>
                <a:lnTo>
                  <a:pt x="406400" y="127000"/>
                </a:lnTo>
                <a:cubicBezTo>
                  <a:pt x="406400" y="98981"/>
                  <a:pt x="383619" y="76200"/>
                  <a:pt x="355600" y="76200"/>
                </a:cubicBezTo>
                <a:lnTo>
                  <a:pt x="296307" y="76200"/>
                </a:lnTo>
                <a:lnTo>
                  <a:pt x="288052" y="51435"/>
                </a:lnTo>
                <a:cubicBezTo>
                  <a:pt x="282892" y="35878"/>
                  <a:pt x="268367" y="25400"/>
                  <a:pt x="251936" y="25400"/>
                </a:cubicBezTo>
                <a:lnTo>
                  <a:pt x="154464" y="25400"/>
                </a:lnTo>
                <a:cubicBezTo>
                  <a:pt x="138033" y="25400"/>
                  <a:pt x="123507" y="35878"/>
                  <a:pt x="118348" y="51435"/>
                </a:cubicBezTo>
                <a:close/>
                <a:moveTo>
                  <a:pt x="203200" y="152400"/>
                </a:moveTo>
                <a:cubicBezTo>
                  <a:pt x="245256" y="152400"/>
                  <a:pt x="279400" y="186544"/>
                  <a:pt x="279400" y="228600"/>
                </a:cubicBezTo>
                <a:cubicBezTo>
                  <a:pt x="279400" y="270656"/>
                  <a:pt x="245256" y="304800"/>
                  <a:pt x="203200" y="304800"/>
                </a:cubicBezTo>
                <a:cubicBezTo>
                  <a:pt x="161144" y="304800"/>
                  <a:pt x="127000" y="270656"/>
                  <a:pt x="127000" y="228600"/>
                </a:cubicBezTo>
                <a:cubicBezTo>
                  <a:pt x="127000" y="186544"/>
                  <a:pt x="161144" y="152400"/>
                  <a:pt x="203200" y="152400"/>
                </a:cubicBezTo>
                <a:close/>
              </a:path>
            </a:pathLst>
          </a:custGeom>
          <a:solidFill>
            <a:srgbClr val="6B7FD7"/>
          </a:solidFill>
        </p:spPr>
      </p:sp>
      <p:sp>
        <p:nvSpPr>
          <p:cNvPr id="13" name="Text 11"/>
          <p:cNvSpPr/>
          <p:nvPr/>
        </p:nvSpPr>
        <p:spPr>
          <a:xfrm>
            <a:off x="9842500" y="3365500"/>
            <a:ext cx="5334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相册管理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42500" y="3746500"/>
            <a:ext cx="53340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自动人脸分组与检索整理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90000" y="4432300"/>
            <a:ext cx="6604000" cy="1143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16" name="Shape 14"/>
          <p:cNvSpPr/>
          <p:nvPr/>
        </p:nvSpPr>
        <p:spPr>
          <a:xfrm>
            <a:off x="9144000" y="4597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7315" y="93186"/>
                </a:moveTo>
                <a:lnTo>
                  <a:pt x="86598" y="152400"/>
                </a:lnTo>
                <a:lnTo>
                  <a:pt x="319802" y="152400"/>
                </a:lnTo>
                <a:lnTo>
                  <a:pt x="299085" y="93186"/>
                </a:lnTo>
                <a:cubicBezTo>
                  <a:pt x="295513" y="83026"/>
                  <a:pt x="285909" y="76200"/>
                  <a:pt x="275114" y="76200"/>
                </a:cubicBezTo>
                <a:lnTo>
                  <a:pt x="131286" y="76200"/>
                </a:lnTo>
                <a:cubicBezTo>
                  <a:pt x="120491" y="76200"/>
                  <a:pt x="110887" y="83026"/>
                  <a:pt x="107315" y="93186"/>
                </a:cubicBezTo>
                <a:close/>
                <a:moveTo>
                  <a:pt x="31433" y="156210"/>
                </a:moveTo>
                <a:lnTo>
                  <a:pt x="59372" y="76438"/>
                </a:lnTo>
                <a:cubicBezTo>
                  <a:pt x="70088" y="45879"/>
                  <a:pt x="98901" y="25400"/>
                  <a:pt x="131286" y="25400"/>
                </a:cubicBezTo>
                <a:lnTo>
                  <a:pt x="275114" y="25400"/>
                </a:lnTo>
                <a:cubicBezTo>
                  <a:pt x="307499" y="25400"/>
                  <a:pt x="336312" y="45879"/>
                  <a:pt x="347028" y="76438"/>
                </a:cubicBezTo>
                <a:lnTo>
                  <a:pt x="374968" y="156210"/>
                </a:lnTo>
                <a:cubicBezTo>
                  <a:pt x="393383" y="163830"/>
                  <a:pt x="406400" y="182007"/>
                  <a:pt x="406400" y="2032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55600" y="381000"/>
                </a:lnTo>
                <a:cubicBezTo>
                  <a:pt x="341551" y="381000"/>
                  <a:pt x="330200" y="369649"/>
                  <a:pt x="330200" y="355600"/>
                </a:cubicBezTo>
                <a:lnTo>
                  <a:pt x="330200" y="330200"/>
                </a:lnTo>
                <a:lnTo>
                  <a:pt x="76200" y="330200"/>
                </a:lnTo>
                <a:lnTo>
                  <a:pt x="76200" y="355600"/>
                </a:lnTo>
                <a:cubicBezTo>
                  <a:pt x="76200" y="369649"/>
                  <a:pt x="64849" y="381000"/>
                  <a:pt x="508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203200"/>
                </a:lnTo>
                <a:cubicBezTo>
                  <a:pt x="0" y="182007"/>
                  <a:pt x="13017" y="163830"/>
                  <a:pt x="31433" y="156210"/>
                </a:cubicBezTo>
                <a:close/>
                <a:moveTo>
                  <a:pt x="101600" y="241300"/>
                </a:moveTo>
                <a:cubicBezTo>
                  <a:pt x="101600" y="227281"/>
                  <a:pt x="90219" y="215900"/>
                  <a:pt x="76200" y="215900"/>
                </a:cubicBezTo>
                <a:cubicBezTo>
                  <a:pt x="62181" y="215900"/>
                  <a:pt x="50800" y="227281"/>
                  <a:pt x="50800" y="241300"/>
                </a:cubicBezTo>
                <a:cubicBezTo>
                  <a:pt x="50800" y="255319"/>
                  <a:pt x="62181" y="266700"/>
                  <a:pt x="76200" y="266700"/>
                </a:cubicBezTo>
                <a:cubicBezTo>
                  <a:pt x="90219" y="266700"/>
                  <a:pt x="101600" y="255319"/>
                  <a:pt x="101600" y="241300"/>
                </a:cubicBezTo>
                <a:close/>
                <a:moveTo>
                  <a:pt x="330200" y="266700"/>
                </a:moveTo>
                <a:cubicBezTo>
                  <a:pt x="344219" y="266700"/>
                  <a:pt x="355600" y="255319"/>
                  <a:pt x="355600" y="241300"/>
                </a:cubicBezTo>
                <a:cubicBezTo>
                  <a:pt x="355600" y="227281"/>
                  <a:pt x="344219" y="215900"/>
                  <a:pt x="330200" y="215900"/>
                </a:cubicBezTo>
                <a:cubicBezTo>
                  <a:pt x="316181" y="215900"/>
                  <a:pt x="304800" y="227281"/>
                  <a:pt x="304800" y="241300"/>
                </a:cubicBezTo>
                <a:cubicBezTo>
                  <a:pt x="304800" y="255319"/>
                  <a:pt x="316181" y="266700"/>
                  <a:pt x="330200" y="266700"/>
                </a:cubicBezTo>
                <a:close/>
              </a:path>
            </a:pathLst>
          </a:custGeom>
          <a:solidFill>
            <a:srgbClr val="6B7FD7"/>
          </a:solidFill>
        </p:spPr>
      </p:sp>
      <p:sp>
        <p:nvSpPr>
          <p:cNvPr id="17" name="Text 15"/>
          <p:cNvSpPr/>
          <p:nvPr/>
        </p:nvSpPr>
        <p:spPr>
          <a:xfrm>
            <a:off x="9842500" y="4597400"/>
            <a:ext cx="5334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驾驶员监控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842500" y="4978400"/>
            <a:ext cx="53340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疲劳检测与注意力分析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90000" y="5664200"/>
            <a:ext cx="6604000" cy="1143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20" name="Shape 18"/>
          <p:cNvSpPr/>
          <p:nvPr/>
        </p:nvSpPr>
        <p:spPr>
          <a:xfrm>
            <a:off x="9144000" y="58293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6114" y="31750"/>
                </a:moveTo>
                <a:cubicBezTo>
                  <a:pt x="116114" y="14208"/>
                  <a:pt x="132352" y="0"/>
                  <a:pt x="152400" y="0"/>
                </a:cubicBezTo>
                <a:cubicBezTo>
                  <a:pt x="172448" y="0"/>
                  <a:pt x="188686" y="14208"/>
                  <a:pt x="188686" y="31750"/>
                </a:cubicBezTo>
                <a:lnTo>
                  <a:pt x="188686" y="149384"/>
                </a:lnTo>
                <a:cubicBezTo>
                  <a:pt x="196396" y="143351"/>
                  <a:pt x="206556" y="139700"/>
                  <a:pt x="217714" y="139700"/>
                </a:cubicBezTo>
                <a:cubicBezTo>
                  <a:pt x="236401" y="139700"/>
                  <a:pt x="252367" y="150019"/>
                  <a:pt x="258536" y="164465"/>
                </a:cubicBezTo>
                <a:cubicBezTo>
                  <a:pt x="266519" y="157083"/>
                  <a:pt x="277767" y="152400"/>
                  <a:pt x="290286" y="152400"/>
                </a:cubicBezTo>
                <a:cubicBezTo>
                  <a:pt x="313236" y="152400"/>
                  <a:pt x="332014" y="167878"/>
                  <a:pt x="333738" y="187563"/>
                </a:cubicBezTo>
                <a:cubicBezTo>
                  <a:pt x="341449" y="181451"/>
                  <a:pt x="351699" y="177800"/>
                  <a:pt x="362857" y="177800"/>
                </a:cubicBezTo>
                <a:cubicBezTo>
                  <a:pt x="386896" y="177800"/>
                  <a:pt x="406400" y="194866"/>
                  <a:pt x="406400" y="215900"/>
                </a:cubicBezTo>
                <a:lnTo>
                  <a:pt x="406400" y="304800"/>
                </a:lnTo>
                <a:cubicBezTo>
                  <a:pt x="406400" y="360918"/>
                  <a:pt x="354421" y="406400"/>
                  <a:pt x="290286" y="406400"/>
                </a:cubicBezTo>
                <a:lnTo>
                  <a:pt x="212906" y="406400"/>
                </a:lnTo>
                <a:cubicBezTo>
                  <a:pt x="208371" y="406400"/>
                  <a:pt x="203926" y="406162"/>
                  <a:pt x="199571" y="405606"/>
                </a:cubicBezTo>
                <a:cubicBezTo>
                  <a:pt x="149406" y="401161"/>
                  <a:pt x="103233" y="378619"/>
                  <a:pt x="72571" y="342900"/>
                </a:cubicBezTo>
                <a:lnTo>
                  <a:pt x="7257" y="266700"/>
                </a:lnTo>
                <a:cubicBezTo>
                  <a:pt x="-4808" y="252651"/>
                  <a:pt x="-1542" y="232807"/>
                  <a:pt x="14514" y="222250"/>
                </a:cubicBezTo>
                <a:cubicBezTo>
                  <a:pt x="30571" y="211693"/>
                  <a:pt x="53249" y="214551"/>
                  <a:pt x="65314" y="228600"/>
                </a:cubicBezTo>
                <a:lnTo>
                  <a:pt x="116114" y="287893"/>
                </a:lnTo>
                <a:lnTo>
                  <a:pt x="116114" y="31750"/>
                </a:lnTo>
                <a:close/>
                <a:moveTo>
                  <a:pt x="217714" y="241300"/>
                </a:moveTo>
                <a:cubicBezTo>
                  <a:pt x="217714" y="234315"/>
                  <a:pt x="211183" y="228600"/>
                  <a:pt x="203200" y="228600"/>
                </a:cubicBezTo>
                <a:cubicBezTo>
                  <a:pt x="195217" y="228600"/>
                  <a:pt x="188686" y="234315"/>
                  <a:pt x="188686" y="241300"/>
                </a:cubicBezTo>
                <a:lnTo>
                  <a:pt x="188686" y="317500"/>
                </a:lnTo>
                <a:cubicBezTo>
                  <a:pt x="188686" y="324485"/>
                  <a:pt x="195217" y="330200"/>
                  <a:pt x="203200" y="330200"/>
                </a:cubicBezTo>
                <a:cubicBezTo>
                  <a:pt x="211183" y="330200"/>
                  <a:pt x="217714" y="324485"/>
                  <a:pt x="217714" y="317500"/>
                </a:cubicBezTo>
                <a:lnTo>
                  <a:pt x="217714" y="241300"/>
                </a:lnTo>
                <a:close/>
                <a:moveTo>
                  <a:pt x="261257" y="228600"/>
                </a:moveTo>
                <a:cubicBezTo>
                  <a:pt x="253274" y="228600"/>
                  <a:pt x="246743" y="234315"/>
                  <a:pt x="246743" y="241300"/>
                </a:cubicBezTo>
                <a:lnTo>
                  <a:pt x="246743" y="317500"/>
                </a:lnTo>
                <a:cubicBezTo>
                  <a:pt x="246743" y="324485"/>
                  <a:pt x="253274" y="330200"/>
                  <a:pt x="261257" y="330200"/>
                </a:cubicBezTo>
                <a:cubicBezTo>
                  <a:pt x="269240" y="330200"/>
                  <a:pt x="275771" y="324485"/>
                  <a:pt x="275771" y="317500"/>
                </a:cubicBezTo>
                <a:lnTo>
                  <a:pt x="275771" y="241300"/>
                </a:lnTo>
                <a:cubicBezTo>
                  <a:pt x="275771" y="234315"/>
                  <a:pt x="269240" y="228600"/>
                  <a:pt x="261257" y="228600"/>
                </a:cubicBezTo>
                <a:close/>
                <a:moveTo>
                  <a:pt x="333829" y="241300"/>
                </a:moveTo>
                <a:cubicBezTo>
                  <a:pt x="333829" y="234315"/>
                  <a:pt x="327297" y="228600"/>
                  <a:pt x="319314" y="228600"/>
                </a:cubicBezTo>
                <a:cubicBezTo>
                  <a:pt x="311331" y="228600"/>
                  <a:pt x="304800" y="234315"/>
                  <a:pt x="304800" y="241300"/>
                </a:cubicBezTo>
                <a:lnTo>
                  <a:pt x="304800" y="317500"/>
                </a:lnTo>
                <a:cubicBezTo>
                  <a:pt x="304800" y="324485"/>
                  <a:pt x="311331" y="330200"/>
                  <a:pt x="319314" y="330200"/>
                </a:cubicBezTo>
                <a:cubicBezTo>
                  <a:pt x="327297" y="330200"/>
                  <a:pt x="333829" y="324485"/>
                  <a:pt x="333829" y="317500"/>
                </a:cubicBezTo>
                <a:lnTo>
                  <a:pt x="333829" y="241300"/>
                </a:lnTo>
                <a:close/>
              </a:path>
            </a:pathLst>
          </a:custGeom>
          <a:solidFill>
            <a:srgbClr val="6B7FD7"/>
          </a:solidFill>
        </p:spPr>
      </p:sp>
      <p:sp>
        <p:nvSpPr>
          <p:cNvPr id="21" name="Text 19"/>
          <p:cNvSpPr/>
          <p:nvPr/>
        </p:nvSpPr>
        <p:spPr>
          <a:xfrm>
            <a:off x="9842500" y="5829300"/>
            <a:ext cx="5334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人机交互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842500" y="6210300"/>
            <a:ext cx="53340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表情识别与手势控制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24" name="Text 22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6B7FD7"/>
          </a:solidFill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设计目标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7620000" cy="533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设计目的、技术指标与实验环境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635000" cy="38100"/>
          </a:xfrm>
          <a:prstGeom prst="rect">
            <a:avLst/>
          </a:prstGeom>
          <a:solidFill>
            <a:srgbClr val="6B7FD7"/>
          </a:solidFill>
        </p:spPr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762000" y="1905000"/>
          <a:ext cx="14732000" cy="3937000"/>
        </p:xfrm>
        <a:graphic>
          <a:graphicData uri="http://schemas.openxmlformats.org/drawingml/2006/table">
            <a:tbl>
              <a:tblPr/>
              <a:tblGrid>
                <a:gridCol w="3241040"/>
                <a:gridCol w="5892800"/>
                <a:gridCol w="5598160"/>
              </a:tblGrid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指标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F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设计要求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F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实现情况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FD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开发环境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Python 3 + OpenCV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Python 3.12 + OpenCV 4.11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运行模式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单图与批处理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已实现，命令行可选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预处理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至少包含均衡、去噪、归一化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实现 7 个对比分支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检测对象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正面人脸、人眼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已实现，ROI 内人眼检测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参数配置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scaleFactor、minNeighbors、minSize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可配置 + 预设搜索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结果输出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检测图、对比图、CSV/JSON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已实现，含稳定性指标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自动测试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核心模块可启动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7 项测试全部通过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6096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实验环境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" y="6604000"/>
            <a:ext cx="14732000" cy="177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操作系统</a:t>
            </a: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：Windows 11　|　</a:t>
            </a:r>
            <a:r>
              <a:rPr lang="en-US" sz="18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Python</a:t>
            </a: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：3.12　|　</a:t>
            </a:r>
            <a:r>
              <a:rPr lang="en-US" sz="18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OpenCV</a:t>
            </a: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：4.11.0　|　</a:t>
            </a:r>
            <a:r>
              <a:rPr lang="en-US" sz="18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NumPy</a:t>
            </a: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：2.2.4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分类器</a:t>
            </a: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：haarcascade_frontalface_default.xml、haarcascade_eye_tree_eyeglasses.xml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归一化尺寸</a:t>
            </a: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：640×480　|　</a:t>
            </a:r>
            <a:r>
              <a:rPr lang="en-US" sz="18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硬件</a:t>
            </a: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：普通 x86-64 PC，CPU 运行，未使用 GPU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10" name="Text 7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uo3dzywvqyc6/mnt/agents/output/face_detection_ppt/images/3_Image_Enhancement_Techniques_in_Digital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890000" y="0"/>
            <a:ext cx="736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890000" y="0"/>
            <a:ext cx="7366000" cy="9144000"/>
          </a:xfrm>
          <a:prstGeom prst="rect">
            <a:avLst/>
          </a:prstGeom>
          <a:gradFill flip="none" rotWithShape="1">
            <a:gsLst>
              <a:gs pos="0">
                <a:srgbClr val="1A1C23"/>
              </a:gs>
              <a:gs pos="40000">
                <a:srgbClr val="1A1C23">
                  <a:alpha val="80000"/>
                </a:srgbClr>
              </a:gs>
              <a:gs pos="100000">
                <a:srgbClr val="1A1C23">
                  <a:alpha val="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762000" y="2540000"/>
            <a:ext cx="254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6B7FD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746500"/>
            <a:ext cx="762000" cy="508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6" name="Text 3"/>
          <p:cNvSpPr/>
          <p:nvPr/>
        </p:nvSpPr>
        <p:spPr>
          <a:xfrm>
            <a:off x="762000" y="4064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相关技术与理论基础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889500"/>
            <a:ext cx="7620000" cy="44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图像预处理算法原理与 Haar 特征检测理论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9" name="Text 6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6B7FD7"/>
          </a:solidFill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预处理技术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6350000" cy="533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灰度化与直方图均衡化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635000" cy="381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6" name="Shape 4"/>
          <p:cNvSpPr/>
          <p:nvPr/>
        </p:nvSpPr>
        <p:spPr>
          <a:xfrm>
            <a:off x="762000" y="1968500"/>
            <a:ext cx="7112000" cy="3048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7" name="Text 5"/>
          <p:cNvSpPr/>
          <p:nvPr/>
        </p:nvSpPr>
        <p:spPr>
          <a:xfrm>
            <a:off x="1016000" y="2095500"/>
            <a:ext cx="3175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灰度化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1016000" y="2540000"/>
                <a:ext cx="6604000" cy="228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70000"/>
                  </a:lnSpc>
                </a:pPr>
                <a:r>
                  <a:rPr lang="en-US" sz="1600" dirty="0">
                    <a:solidFill>
                      <a:srgbClr val="E8EAF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彩色图像三通道增加计算量，Haar 分类器主要利用局部明暗差异，因此先将 BGR 图像转为灰度图。</a:t>
                </a:r>
                <a:endParaRPr lang="en-US" sz="1600" dirty="0"/>
              </a:p>
              <a:p>
                <a:pPr algn="l">
                  <a:lnSpc>
                    <a:spcPct val="170000"/>
                  </a:lnSpc>
                  <a:spcBef>
                    <a:spcPts val="1000"/>
                  </a:spcBef>
                </a:pPr>
                <a:r>
                  <a:rPr lang="en-US" sz="1600" dirty="0">
                    <a:solidFill>
                      <a:srgbClr val="E8EAF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亮度加权公式：</a:t>
                </a:r>
                <a:endParaRPr lang="en-US" sz="1600" dirty="0"/>
              </a:p>
              <a:p>
                <a:pPr algn="l">
                  <a:lnSpc>
                    <a:spcPct val="17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𝑌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=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0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.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299</m:t>
                      </m:r>
                      <m:r>
                        <a:rPr lang="en-US" sz="1600" i="1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𝑅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+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0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.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587</m:t>
                      </m:r>
                      <m:r>
                        <a:rPr lang="en-US" sz="1600" i="1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𝐺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+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0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.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114</m:t>
                      </m:r>
                      <m:r>
                        <a:rPr lang="en-US" sz="1600" i="1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𝐵</m:t>
                      </m:r>
                    </m:oMath>
                  </m:oMathPara>
                </a14:m>
                <a:endParaRPr lang="en-US" sz="1600" dirty="0"/>
              </a:p>
              <a:p>
                <a:pPr algn="l">
                  <a:lnSpc>
                    <a:spcPct val="170000"/>
                  </a:lnSpc>
                  <a:spcBef>
                    <a:spcPts val="600"/>
                  </a:spcBef>
                </a:pPr>
                <a:r>
                  <a:rPr lang="en-US" sz="1400" dirty="0">
                    <a:solidFill>
                      <a:srgbClr val="8B95A5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绿色通道权重最大，人眼对绿色亮度变化更敏感</a:t>
                </a:r>
                <a:endParaRPr lang="en-US" sz="1600" dirty="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540000"/>
                <a:ext cx="6604000" cy="22860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762000" y="5270500"/>
            <a:ext cx="7112000" cy="3048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10" name="Text 8"/>
          <p:cNvSpPr/>
          <p:nvPr/>
        </p:nvSpPr>
        <p:spPr>
          <a:xfrm>
            <a:off x="1016000" y="5397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全局直方图均衡化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1016000" y="5842000"/>
                <a:ext cx="6604000" cy="228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70000"/>
                  </a:lnSpc>
                </a:pPr>
                <a:r>
                  <a:rPr lang="en-US" sz="1600" dirty="0">
                    <a:solidFill>
                      <a:srgbClr val="E8EAF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利用累计分布函数(CDF)重新映射灰度，使有效动态范围得到扩展。</a:t>
                </a:r>
                <a:endParaRPr lang="en-US" sz="1600" dirty="0"/>
              </a:p>
              <a:p>
                <a:pPr algn="l">
                  <a:lnSpc>
                    <a:spcPct val="170000"/>
                  </a:lnSpc>
                  <a:spcBef>
                    <a:spcPts val="1000"/>
                  </a:spcBef>
                </a:pPr>
                <a:r>
                  <a:rPr lang="en-US" sz="1600" dirty="0">
                    <a:solidFill>
                      <a:srgbClr val="E8EAF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映射关系：</a:t>
                </a:r>
                <a:endParaRPr lang="en-US" sz="1600" dirty="0"/>
              </a:p>
              <a:p>
                <a:pPr algn="l">
                  <a:lnSpc>
                    <a:spcPct val="17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>
                              <a:solidFill>
                                <a:srgbClr val="E8EAF0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E8EAF0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𝑠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E8EAF0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𝑘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=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𝑟𝑜𝑢𝑛𝑑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[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(</m:t>
                      </m:r>
                      <m:r>
                        <a:rPr lang="en-US" sz="1600" i="1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𝐿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−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1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)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×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𝐶𝐷𝐹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E8EAF0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E8EAF0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𝑟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E8EAF0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𝑘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)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  <a:p>
                <a:pPr algn="l">
                  <a:lnSpc>
                    <a:spcPct val="170000"/>
                  </a:lnSpc>
                  <a:spcBef>
                    <a:spcPts val="600"/>
                  </a:spcBef>
                </a:pPr>
                <a:r>
                  <a:rPr lang="en-US" sz="1400" dirty="0">
                    <a:solidFill>
                      <a:srgbClr val="8B95A5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计算简单，但局部光照不均时可能过度增强噪声</a:t>
                </a:r>
                <a:endParaRPr lang="en-US" sz="1600" dirty="0"/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5842000"/>
                <a:ext cx="6604000" cy="22860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14" name="Text 11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07</a:t>
            </a:r>
            <a:endParaRPr lang="en-US" sz="1400" dirty="0"/>
          </a:p>
        </p:txBody>
      </p:sp>
      <p:pic>
        <p:nvPicPr>
          <p:cNvPr id="15" name="图片 14" descr="sample_lowlight_comparis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155" y="1968500"/>
            <a:ext cx="7637145" cy="59937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6B7FD7"/>
          </a:solidFill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预处理技术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6350000" cy="533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CLAHE 与 Gamma 校正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635000" cy="381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6" name="Shape 4"/>
          <p:cNvSpPr/>
          <p:nvPr/>
        </p:nvSpPr>
        <p:spPr>
          <a:xfrm>
            <a:off x="762000" y="1968500"/>
            <a:ext cx="7112000" cy="3048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7" name="Text 5"/>
          <p:cNvSpPr/>
          <p:nvPr/>
        </p:nvSpPr>
        <p:spPr>
          <a:xfrm>
            <a:off x="1016000" y="2095500"/>
            <a:ext cx="3175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CLAHE 自适应均衡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2540000"/>
            <a:ext cx="6604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将图像划分为多个小区域，分别进行直方图均衡，并通过</a:t>
            </a: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对比度限制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裁剪过高的直方图峰值。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默认 clipLimit = 2.0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网格大小 8×8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比全局均衡更适合局部暗区，同时抑制部分噪声放大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5270500"/>
            <a:ext cx="7112000" cy="3048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10" name="Text 8"/>
          <p:cNvSpPr/>
          <p:nvPr/>
        </p:nvSpPr>
        <p:spPr>
          <a:xfrm>
            <a:off x="1016000" y="5397500"/>
            <a:ext cx="3175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Gamma 亮度校正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1016000" y="5842000"/>
                <a:ext cx="6604000" cy="228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70000"/>
                  </a:lnSpc>
                </a:pPr>
                <a:r>
                  <a:rPr lang="en-US" sz="1600" dirty="0">
                    <a:solidFill>
                      <a:srgbClr val="E8EAF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幂律灰度变换，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E8EAF0"/>
                        </a:solidFill>
                        <a:latin typeface="MiSans" pitchFamily="34" charset="-122"/>
                        <a:ea typeface="MiSans" pitchFamily="34" charset="-122"/>
                        <a:cs typeface="MiSans" pitchFamily="34" charset="-120"/>
                      </a:rPr>
                      <m:t>𝛾</m:t>
                    </m:r>
                    <m:r>
                      <a:rPr lang="en-US" sz="1600" dirty="0">
                        <a:solidFill>
                          <a:srgbClr val="E8EAF0"/>
                        </a:solidFill>
                        <a:latin typeface="MiSans" pitchFamily="34" charset="-122"/>
                        <a:ea typeface="MiSans" pitchFamily="34" charset="-122"/>
                        <a:cs typeface="MiSans" pitchFamily="34" charset="-120"/>
                      </a:rPr>
                      <m:t>&gt;</m:t>
                    </m:r>
                    <m:r>
                      <a:rPr lang="en-US" sz="1600" dirty="0">
                        <a:solidFill>
                          <a:srgbClr val="E8EAF0"/>
                        </a:solidFill>
                        <a:latin typeface="MiSans" pitchFamily="34" charset="-122"/>
                        <a:ea typeface="MiSans" pitchFamily="34" charset="-122"/>
                        <a:cs typeface="MiSans" pitchFamily="34" charset="-120"/>
                      </a:rPr>
                      <m:t>1</m:t>
                    </m:r>
                  </m:oMath>
                </a14:m>
                <a:r>
                  <a:rPr lang="en-US" sz="1600" dirty="0">
                    <a:solidFill>
                      <a:srgbClr val="E8EAF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 时抬升暗部，改善弱光图像可见性。</a:t>
                </a:r>
                <a:endParaRPr lang="en-US" sz="1600" dirty="0"/>
              </a:p>
              <a:p>
                <a:pPr algn="l">
                  <a:lnSpc>
                    <a:spcPct val="17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𝑠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=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255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×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(</m:t>
                      </m:r>
                      <m:r>
                        <a:rPr lang="en-US" sz="1600" i="1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𝑟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/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255</m:t>
                      </m:r>
                      <m:sSup>
                        <m:sSupPr>
                          <m:ctrlPr>
                            <a:rPr lang="en-US" sz="1100" dirty="0">
                              <a:solidFill>
                                <a:srgbClr val="E8EAF0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</m:ctrlPr>
                        </m:sSupPr>
                        <m:e>
                          <m:r>
                            <a:rPr lang="en-US" sz="1100" dirty="0">
                              <a:solidFill>
                                <a:srgbClr val="E8EAF0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)</m:t>
                          </m:r>
                        </m:e>
                        <m:sup>
                          <m:r>
                            <a:rPr lang="en-US" sz="1100" dirty="0">
                              <a:solidFill>
                                <a:srgbClr val="E8EAF0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1</m:t>
                          </m:r>
                          <m:r>
                            <a:rPr lang="en-US" sz="1100" dirty="0">
                              <a:solidFill>
                                <a:srgbClr val="E8EAF0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/</m:t>
                          </m:r>
                          <m:r>
                            <a:rPr lang="en-US" sz="1100" i="1" dirty="0">
                              <a:solidFill>
                                <a:srgbClr val="E8EAF0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𝛾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  <a:p>
                <a:pPr algn="l">
                  <a:lnSpc>
                    <a:spcPct val="170000"/>
                  </a:lnSpc>
                  <a:spcBef>
                    <a:spcPts val="800"/>
                  </a:spcBef>
                </a:pPr>
                <a:r>
                  <a:rPr lang="en-US" sz="1600" dirty="0">
                    <a:solidFill>
                      <a:srgbClr val="E8EAF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• 默认值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E8EAF0"/>
                        </a:solidFill>
                        <a:latin typeface="MiSans" pitchFamily="34" charset="-122"/>
                        <a:ea typeface="MiSans" pitchFamily="34" charset="-122"/>
                        <a:cs typeface="MiSans" pitchFamily="34" charset="-120"/>
                      </a:rPr>
                      <m:t>𝛾</m:t>
                    </m:r>
                    <m:r>
                      <a:rPr lang="en-US" sz="1600" dirty="0">
                        <a:solidFill>
                          <a:srgbClr val="E8EAF0"/>
                        </a:solidFill>
                        <a:latin typeface="MiSans" pitchFamily="34" charset="-122"/>
                        <a:ea typeface="MiSans" pitchFamily="34" charset="-122"/>
                        <a:cs typeface="MiSans" pitchFamily="34" charset="-120"/>
                      </a:rPr>
                      <m:t>=</m:t>
                    </m:r>
                    <m:r>
                      <a:rPr lang="en-US" sz="1600" dirty="0">
                        <a:solidFill>
                          <a:srgbClr val="E8EAF0"/>
                        </a:solidFill>
                        <a:latin typeface="MiSans" pitchFamily="34" charset="-122"/>
                        <a:ea typeface="MiSans" pitchFamily="34" charset="-122"/>
                        <a:cs typeface="MiSans" pitchFamily="34" charset="-120"/>
                      </a:rPr>
                      <m:t>1</m:t>
                    </m:r>
                    <m:r>
                      <a:rPr lang="en-US" sz="1600" dirty="0">
                        <a:solidFill>
                          <a:srgbClr val="E8EAF0"/>
                        </a:solidFill>
                        <a:latin typeface="MiSans" pitchFamily="34" charset="-122"/>
                        <a:ea typeface="MiSans" pitchFamily="34" charset="-122"/>
                        <a:cs typeface="MiSans" pitchFamily="34" charset="-120"/>
                      </a:rPr>
                      <m:t>.</m:t>
                    </m:r>
                    <m:r>
                      <a:rPr lang="en-US" sz="1600" dirty="0">
                        <a:solidFill>
                          <a:srgbClr val="E8EAF0"/>
                        </a:solidFill>
                        <a:latin typeface="MiSans" pitchFamily="34" charset="-122"/>
                        <a:ea typeface="MiSans" pitchFamily="34" charset="-122"/>
                        <a:cs typeface="MiSans" pitchFamily="34" charset="-120"/>
                      </a:rPr>
                      <m:t>5</m:t>
                    </m:r>
                  </m:oMath>
                </a14:m>
                <a:endParaRPr lang="en-US" sz="1600" dirty="0"/>
              </a:p>
              <a:p>
                <a:pPr algn="l">
                  <a:lnSpc>
                    <a:spcPct val="170000"/>
                  </a:lnSpc>
                </a:pPr>
                <a:r>
                  <a:rPr lang="en-US" sz="1600" dirty="0">
                    <a:solidFill>
                      <a:srgbClr val="E8EAF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• 使用 256 项查找表加速映射</a:t>
                </a:r>
                <a:endParaRPr lang="en-US" sz="1600" dirty="0"/>
              </a:p>
              <a:p>
                <a:pPr algn="l">
                  <a:lnSpc>
                    <a:spcPct val="170000"/>
                  </a:lnSpc>
                  <a:spcBef>
                    <a:spcPts val="400"/>
                  </a:spcBef>
                </a:pPr>
                <a:r>
                  <a:rPr lang="en-US" sz="1400" dirty="0">
                    <a:solidFill>
                      <a:srgbClr val="FF6B6B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注意：不能恢复已丢失的细节，取值过大会造成亮部过曝</a:t>
                </a:r>
                <a:endParaRPr lang="en-US" sz="1600" dirty="0"/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5842000"/>
                <a:ext cx="6604000" cy="22860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8382000" y="1968500"/>
            <a:ext cx="7112000" cy="6350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13" name="Text 11"/>
          <p:cNvSpPr/>
          <p:nvPr/>
        </p:nvSpPr>
        <p:spPr>
          <a:xfrm>
            <a:off x="8763000" y="2222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CLAHE vs 全局均衡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763000" y="2730500"/>
            <a:ext cx="6350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15" name="Text 13"/>
          <p:cNvSpPr/>
          <p:nvPr/>
        </p:nvSpPr>
        <p:spPr>
          <a:xfrm>
            <a:off x="8763000" y="2921000"/>
            <a:ext cx="6350000" cy="533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全局直方图均衡化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使用整幅图像的一张直方图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计算简单、速度快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局部光照不均时可能过度增强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噪声明显时会放大颗粒感</a:t>
            </a:r>
            <a:endParaRPr lang="en-US" sz="1600" dirty="0"/>
          </a:p>
          <a:p>
            <a:pPr algn="l">
              <a:lnSpc>
                <a:spcPct val="18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CLAHE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分块处理，局部自适应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对比度限制防止噪声放大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区域间插值保证平滑过渡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更适合弱光、高动态范围图像</a:t>
            </a:r>
            <a:endParaRPr lang="en-US" sz="1600" dirty="0"/>
          </a:p>
          <a:p>
            <a:pPr algn="l">
              <a:lnSpc>
                <a:spcPct val="180000"/>
              </a:lnSpc>
              <a:spcBef>
                <a:spcPts val="2000"/>
              </a:spcBef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本项目同时保留两种方法作为对照分支，避免"预处理越多越好"的误区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17" name="Text 15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6B7FD7"/>
          </a:solidFill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预处理技术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6350000" cy="533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高斯滤波与中值滤波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635000" cy="381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6" name="Shape 4"/>
          <p:cNvSpPr/>
          <p:nvPr/>
        </p:nvSpPr>
        <p:spPr>
          <a:xfrm>
            <a:off x="762000" y="1968500"/>
            <a:ext cx="7112000" cy="3048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7" name="Text 5"/>
          <p:cNvSpPr/>
          <p:nvPr/>
        </p:nvSpPr>
        <p:spPr>
          <a:xfrm>
            <a:off x="1016000" y="2095500"/>
            <a:ext cx="3175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高斯滤波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1016000" y="2540000"/>
                <a:ext cx="6604000" cy="228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70000"/>
                  </a:lnSpc>
                </a:pPr>
                <a:r>
                  <a:rPr lang="en-US" sz="1600" dirty="0">
                    <a:solidFill>
                      <a:srgbClr val="E8EAF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根据像素与中心点的距离分配权重，二维高斯函数：</a:t>
                </a:r>
                <a:endParaRPr lang="en-US" sz="1600" dirty="0"/>
              </a:p>
              <a:p>
                <a:pPr algn="l">
                  <a:lnSpc>
                    <a:spcPct val="17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𝐺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(</m:t>
                      </m:r>
                      <m:r>
                        <a:rPr lang="en-US" sz="1600" i="1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𝑥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,</m:t>
                      </m:r>
                      <m:r>
                        <a:rPr lang="en-US" sz="1600" i="1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𝑦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)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lang="en-US" sz="1100" dirty="0">
                              <a:solidFill>
                                <a:srgbClr val="E8EAF0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1</m:t>
                          </m:r>
                        </m:num>
                        <m:den>
                          <m:r>
                            <a:rPr lang="en-US" sz="1100" dirty="0">
                              <a:solidFill>
                                <a:srgbClr val="E8EAF0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2</m:t>
                          </m:r>
                          <m:r>
                            <a:rPr lang="en-US" sz="1100" i="1" dirty="0">
                              <a:solidFill>
                                <a:srgbClr val="E8EAF0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800" dirty="0">
                                  <a:solidFill>
                                    <a:srgbClr val="E8EAF0"/>
                                  </a:solidFill>
                                  <a:latin typeface="MiSans" pitchFamily="34" charset="-122"/>
                                  <a:ea typeface="MiSans" pitchFamily="34" charset="-122"/>
                                  <a:cs typeface="MiSans" pitchFamily="34" charset="-120"/>
                                </a:rPr>
                              </m:ctrlPr>
                            </m:sSupPr>
                            <m:e>
                              <m:r>
                                <a:rPr lang="en-US" sz="800" i="1" dirty="0">
                                  <a:solidFill>
                                    <a:srgbClr val="E8EAF0"/>
                                  </a:solidFill>
                                  <a:latin typeface="MiSans" pitchFamily="34" charset="-122"/>
                                  <a:ea typeface="MiSans" pitchFamily="34" charset="-122"/>
                                  <a:cs typeface="MiSans" pitchFamily="34" charset="-12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800" dirty="0">
                                  <a:solidFill>
                                    <a:srgbClr val="E8EAF0"/>
                                  </a:solidFill>
                                  <a:latin typeface="MiSans" pitchFamily="34" charset="-122"/>
                                  <a:ea typeface="MiSans" pitchFamily="34" charset="-122"/>
                                  <a:cs typeface="MiSans" pitchFamily="34" charset="-12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1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𝑒𝑥𝑝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⁡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(</m:t>
                      </m:r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−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p>
                            <m:sSupPr>
                              <m:ctrlPr>
                                <a:rPr lang="en-US" sz="800" dirty="0">
                                  <a:solidFill>
                                    <a:srgbClr val="E8EAF0"/>
                                  </a:solidFill>
                                  <a:latin typeface="MiSans" pitchFamily="34" charset="-122"/>
                                  <a:ea typeface="MiSans" pitchFamily="34" charset="-122"/>
                                  <a:cs typeface="MiSans" pitchFamily="34" charset="-120"/>
                                </a:rPr>
                              </m:ctrlPr>
                            </m:sSupPr>
                            <m:e>
                              <m:r>
                                <a:rPr lang="en-US" sz="800" i="1" dirty="0">
                                  <a:solidFill>
                                    <a:srgbClr val="E8EAF0"/>
                                  </a:solidFill>
                                  <a:latin typeface="MiSans" pitchFamily="34" charset="-122"/>
                                  <a:ea typeface="MiSans" pitchFamily="34" charset="-122"/>
                                  <a:cs typeface="MiSans" pitchFamily="34" charset="-12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800" dirty="0">
                                  <a:solidFill>
                                    <a:srgbClr val="E8EAF0"/>
                                  </a:solidFill>
                                  <a:latin typeface="MiSans" pitchFamily="34" charset="-122"/>
                                  <a:ea typeface="MiSans" pitchFamily="34" charset="-122"/>
                                  <a:cs typeface="MiSans" pitchFamily="34" charset="-12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100" dirty="0">
                              <a:solidFill>
                                <a:srgbClr val="E8EAF0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800" dirty="0">
                                  <a:solidFill>
                                    <a:srgbClr val="E8EAF0"/>
                                  </a:solidFill>
                                  <a:latin typeface="MiSans" pitchFamily="34" charset="-122"/>
                                  <a:ea typeface="MiSans" pitchFamily="34" charset="-122"/>
                                  <a:cs typeface="MiSans" pitchFamily="34" charset="-120"/>
                                </a:rPr>
                              </m:ctrlPr>
                            </m:sSupPr>
                            <m:e>
                              <m:r>
                                <a:rPr lang="en-US" sz="800" i="1" dirty="0">
                                  <a:solidFill>
                                    <a:srgbClr val="E8EAF0"/>
                                  </a:solidFill>
                                  <a:latin typeface="MiSans" pitchFamily="34" charset="-122"/>
                                  <a:ea typeface="MiSans" pitchFamily="34" charset="-122"/>
                                  <a:cs typeface="MiSans" pitchFamily="34" charset="-12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800" dirty="0">
                                  <a:solidFill>
                                    <a:srgbClr val="E8EAF0"/>
                                  </a:solidFill>
                                  <a:latin typeface="MiSans" pitchFamily="34" charset="-122"/>
                                  <a:ea typeface="MiSans" pitchFamily="34" charset="-122"/>
                                  <a:cs typeface="MiSans" pitchFamily="34" charset="-12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100" dirty="0">
                              <a:solidFill>
                                <a:srgbClr val="E8EAF0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800" dirty="0">
                                  <a:solidFill>
                                    <a:srgbClr val="E8EAF0"/>
                                  </a:solidFill>
                                  <a:latin typeface="MiSans" pitchFamily="34" charset="-122"/>
                                  <a:ea typeface="MiSans" pitchFamily="34" charset="-122"/>
                                  <a:cs typeface="MiSans" pitchFamily="34" charset="-120"/>
                                </a:rPr>
                              </m:ctrlPr>
                            </m:sSupPr>
                            <m:e>
                              <m:r>
                                <a:rPr lang="en-US" sz="800" i="1" dirty="0">
                                  <a:solidFill>
                                    <a:srgbClr val="E8EAF0"/>
                                  </a:solidFill>
                                  <a:latin typeface="MiSans" pitchFamily="34" charset="-122"/>
                                  <a:ea typeface="MiSans" pitchFamily="34" charset="-122"/>
                                  <a:cs typeface="MiSans" pitchFamily="34" charset="-12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800" dirty="0">
                                  <a:solidFill>
                                    <a:srgbClr val="E8EAF0"/>
                                  </a:solidFill>
                                  <a:latin typeface="MiSans" pitchFamily="34" charset="-122"/>
                                  <a:ea typeface="MiSans" pitchFamily="34" charset="-122"/>
                                  <a:cs typeface="MiSans" pitchFamily="34" charset="-12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  <a:p>
                <a:pPr algn="l">
                  <a:lnSpc>
                    <a:spcPct val="170000"/>
                  </a:lnSpc>
                  <a:spcBef>
                    <a:spcPts val="800"/>
                  </a:spcBef>
                </a:pPr>
                <a:r>
                  <a:rPr lang="en-US" sz="1600" dirty="0">
                    <a:solidFill>
                      <a:srgbClr val="E8EAF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• 适合抑制</a:t>
                </a:r>
                <a:r>
                  <a:rPr lang="en-US" sz="1600" b="1" dirty="0">
                    <a:solidFill>
                      <a:srgbClr val="E8EAF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随机噪声</a:t>
                </a:r>
                <a:r>
                  <a:rPr lang="en-US" sz="1600" dirty="0">
                    <a:solidFill>
                      <a:srgbClr val="E8EAF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（高斯噪声）</a:t>
                </a:r>
                <a:endParaRPr lang="en-US" sz="1600" dirty="0"/>
              </a:p>
              <a:p>
                <a:pPr algn="l">
                  <a:lnSpc>
                    <a:spcPct val="170000"/>
                  </a:lnSpc>
                </a:pPr>
                <a:r>
                  <a:rPr lang="en-US" sz="1600" dirty="0">
                    <a:solidFill>
                      <a:srgbClr val="E8EAF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• 会平滑边缘，损失细节</a:t>
                </a:r>
                <a:endParaRPr lang="en-US" sz="1600" dirty="0"/>
              </a:p>
              <a:p>
                <a:pPr algn="l">
                  <a:lnSpc>
                    <a:spcPct val="170000"/>
                  </a:lnSpc>
                </a:pPr>
                <a:r>
                  <a:rPr lang="en-US" sz="1600" dirty="0">
                    <a:solidFill>
                      <a:srgbClr val="E8EAF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• 默认核大小 5×5</a:t>
                </a:r>
                <a:endParaRPr lang="en-US" sz="1600" dirty="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540000"/>
                <a:ext cx="6604000" cy="2286000"/>
              </a:xfrm>
              <a:prstGeom prst="rect">
                <a:avLst/>
              </a:prstGeom>
              <a:blipFill rotWithShape="1">
                <a:blip r:embed="rId1"/>
                <a:stretch>
                  <a:fillRect b="-9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762000" y="5270500"/>
            <a:ext cx="7112000" cy="3048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10" name="Text 8"/>
          <p:cNvSpPr/>
          <p:nvPr/>
        </p:nvSpPr>
        <p:spPr>
          <a:xfrm>
            <a:off x="1016000" y="5397500"/>
            <a:ext cx="3175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中值滤波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16000" y="5842000"/>
            <a:ext cx="6604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对邻域像素排序后取中位数，非线性滤波方法。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对</a:t>
            </a: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椒盐噪声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抑制效果较好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比线性平均更能保留边缘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默认核大小 5×5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不适用于高斯噪声为主的场景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1968500"/>
            <a:ext cx="7112000" cy="6350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13" name="Text 11"/>
          <p:cNvSpPr/>
          <p:nvPr/>
        </p:nvSpPr>
        <p:spPr>
          <a:xfrm>
            <a:off x="8763000" y="2222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滤波方法对比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763000" y="2730500"/>
            <a:ext cx="6350000" cy="12700"/>
          </a:xfrm>
          <a:prstGeom prst="rect">
            <a:avLst/>
          </a:prstGeom>
          <a:solidFill>
            <a:srgbClr val="3A4055"/>
          </a:solidFill>
        </p:spPr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8763000" y="2921000"/>
          <a:ext cx="6350000" cy="3175000"/>
        </p:xfrm>
        <a:graphic>
          <a:graphicData uri="http://schemas.openxmlformats.org/drawingml/2006/table">
            <a:tbl>
              <a:tblPr/>
              <a:tblGrid>
                <a:gridCol w="1905000"/>
                <a:gridCol w="2222500"/>
                <a:gridCol w="22225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特性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F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高斯滤波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F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中值滤波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FD7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噪声类型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高斯噪声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椒盐噪声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边缘保留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较弱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较好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计算方式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加权平均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排序取中值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线性/非线性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线性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非线性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13"/>
              <p:cNvSpPr/>
              <p:nvPr/>
            </p:nvSpPr>
            <p:spPr>
              <a:xfrm>
                <a:off x="8763000" y="6350000"/>
                <a:ext cx="6350000" cy="1778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70000"/>
                  </a:lnSpc>
                </a:pPr>
                <a:r>
                  <a:rPr lang="en-US" sz="1600" b="1" dirty="0">
                    <a:solidFill>
                      <a:srgbClr val="E8EAF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尺寸归一化</a:t>
                </a:r>
                <a:endParaRPr lang="en-US" sz="1600" dirty="0"/>
              </a:p>
              <a:p>
                <a:pPr algn="l">
                  <a:lnSpc>
                    <a:spcPct val="170000"/>
                  </a:lnSpc>
                  <a:spcBef>
                    <a:spcPts val="600"/>
                  </a:spcBef>
                </a:pPr>
                <a:r>
                  <a:rPr lang="en-US" sz="1600" dirty="0">
                    <a:solidFill>
                      <a:srgbClr val="E8EAF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计算缩放比例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E8EAF0"/>
                        </a:solidFill>
                        <a:latin typeface="MiSans" pitchFamily="34" charset="-122"/>
                        <a:ea typeface="MiSans" pitchFamily="34" charset="-122"/>
                        <a:cs typeface="MiSans" pitchFamily="34" charset="-120"/>
                      </a:rPr>
                      <m:t>𝑘</m:t>
                    </m:r>
                    <m:r>
                      <a:rPr lang="en-US" sz="1600" dirty="0">
                        <a:solidFill>
                          <a:srgbClr val="E8EAF0"/>
                        </a:solidFill>
                        <a:latin typeface="MiSans" pitchFamily="34" charset="-122"/>
                        <a:ea typeface="MiSans" pitchFamily="34" charset="-122"/>
                        <a:cs typeface="MiSans" pitchFamily="34" charset="-120"/>
                      </a:rPr>
                      <m:t>=</m:t>
                    </m:r>
                    <m:r>
                      <a:rPr lang="en-US" sz="1600" i="1" dirty="0">
                        <a:solidFill>
                          <a:srgbClr val="E8EAF0"/>
                        </a:solidFill>
                        <a:latin typeface="MiSans" pitchFamily="34" charset="-122"/>
                        <a:ea typeface="MiSans" pitchFamily="34" charset="-122"/>
                        <a:cs typeface="MiSans" pitchFamily="34" charset="-120"/>
                      </a:rPr>
                      <m:t>𝑚𝑖𝑛</m:t>
                    </m:r>
                    <m:r>
                      <a:rPr lang="en-US" sz="1600" dirty="0">
                        <a:solidFill>
                          <a:srgbClr val="E8EAF0"/>
                        </a:solidFill>
                        <a:latin typeface="MiSans" pitchFamily="34" charset="-122"/>
                        <a:ea typeface="MiSans" pitchFamily="34" charset="-122"/>
                        <a:cs typeface="MiSans" pitchFamily="34" charset="-120"/>
                      </a:rPr>
                      <m:t>⁡</m:t>
                    </m:r>
                    <m:r>
                      <a:rPr lang="en-US" sz="1600" dirty="0">
                        <a:solidFill>
                          <a:srgbClr val="E8EAF0"/>
                        </a:solidFill>
                        <a:latin typeface="MiSans" pitchFamily="34" charset="-122"/>
                        <a:ea typeface="MiSans" pitchFamily="34" charset="-122"/>
                        <a:cs typeface="MiSans" pitchFamily="34" charset="-120"/>
                      </a:rPr>
                      <m:t>(</m:t>
                    </m:r>
                    <m:sSub>
                      <m:sSubPr>
                        <m:ctrlPr>
                          <a:rPr lang="en-US" sz="1100" dirty="0">
                            <a:solidFill>
                              <a:srgbClr val="E8EAF0"/>
                            </a:solidFill>
                            <a:latin typeface="MiSans" pitchFamily="34" charset="-122"/>
                            <a:ea typeface="MiSans" pitchFamily="34" charset="-122"/>
                            <a:cs typeface="Mi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E8EAF0"/>
                            </a:solidFill>
                            <a:latin typeface="MiSans" pitchFamily="34" charset="-122"/>
                            <a:ea typeface="MiSans" pitchFamily="34" charset="-122"/>
                            <a:cs typeface="MiSans" pitchFamily="34" charset="-120"/>
                          </a:rPr>
                          <m:t>𝑊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E8EAF0"/>
                            </a:solidFill>
                            <a:latin typeface="MiSans" pitchFamily="34" charset="-122"/>
                            <a:ea typeface="MiSans" pitchFamily="34" charset="-122"/>
                            <a:cs typeface="MiSans" pitchFamily="34" charset="-120"/>
                          </a:rPr>
                          <m:t>𝑡</m:t>
                        </m:r>
                      </m:sub>
                    </m:sSub>
                    <m:r>
                      <a:rPr lang="en-US" sz="1600" dirty="0">
                        <a:solidFill>
                          <a:srgbClr val="E8EAF0"/>
                        </a:solidFill>
                        <a:latin typeface="MiSans" pitchFamily="34" charset="-122"/>
                        <a:ea typeface="MiSans" pitchFamily="34" charset="-122"/>
                        <a:cs typeface="MiSans" pitchFamily="34" charset="-120"/>
                      </a:rPr>
                      <m:t>/</m:t>
                    </m:r>
                    <m:r>
                      <a:rPr lang="en-US" sz="1600" i="1" dirty="0">
                        <a:solidFill>
                          <a:srgbClr val="E8EAF0"/>
                        </a:solidFill>
                        <a:latin typeface="MiSans" pitchFamily="34" charset="-122"/>
                        <a:ea typeface="MiSans" pitchFamily="34" charset="-122"/>
                        <a:cs typeface="MiSans" pitchFamily="34" charset="-120"/>
                      </a:rPr>
                      <m:t>𝑊</m:t>
                    </m:r>
                    <m:r>
                      <a:rPr lang="en-US" sz="1600" dirty="0">
                        <a:solidFill>
                          <a:srgbClr val="E8EAF0"/>
                        </a:solidFill>
                        <a:latin typeface="MiSans" pitchFamily="34" charset="-122"/>
                        <a:ea typeface="MiSans" pitchFamily="34" charset="-122"/>
                        <a:cs typeface="MiSans" pitchFamily="34" charset="-120"/>
                      </a:rPr>
                      <m:t>,</m:t>
                    </m:r>
                    <m:sSub>
                      <m:sSubPr>
                        <m:ctrlPr>
                          <a:rPr lang="en-US" sz="1100" dirty="0">
                            <a:solidFill>
                              <a:srgbClr val="E8EAF0"/>
                            </a:solidFill>
                            <a:latin typeface="MiSans" pitchFamily="34" charset="-122"/>
                            <a:ea typeface="MiSans" pitchFamily="34" charset="-122"/>
                            <a:cs typeface="Mi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E8EAF0"/>
                            </a:solidFill>
                            <a:latin typeface="MiSans" pitchFamily="34" charset="-122"/>
                            <a:ea typeface="MiSans" pitchFamily="34" charset="-122"/>
                            <a:cs typeface="MiSans" pitchFamily="34" charset="-120"/>
                          </a:rPr>
                          <m:t>𝐻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E8EAF0"/>
                            </a:solidFill>
                            <a:latin typeface="MiSans" pitchFamily="34" charset="-122"/>
                            <a:ea typeface="MiSans" pitchFamily="34" charset="-122"/>
                            <a:cs typeface="MiSans" pitchFamily="34" charset="-120"/>
                          </a:rPr>
                          <m:t>𝑡</m:t>
                        </m:r>
                      </m:sub>
                    </m:sSub>
                    <m:r>
                      <a:rPr lang="en-US" sz="1600" dirty="0">
                        <a:solidFill>
                          <a:srgbClr val="E8EAF0"/>
                        </a:solidFill>
                        <a:latin typeface="MiSans" pitchFamily="34" charset="-122"/>
                        <a:ea typeface="MiSans" pitchFamily="34" charset="-122"/>
                        <a:cs typeface="MiSans" pitchFamily="34" charset="-120"/>
                      </a:rPr>
                      <m:t>/</m:t>
                    </m:r>
                    <m:r>
                      <a:rPr lang="en-US" sz="1600" i="1" dirty="0">
                        <a:solidFill>
                          <a:srgbClr val="E8EAF0"/>
                        </a:solidFill>
                        <a:latin typeface="MiSans" pitchFamily="34" charset="-122"/>
                        <a:ea typeface="MiSans" pitchFamily="34" charset="-122"/>
                        <a:cs typeface="MiSans" pitchFamily="34" charset="-120"/>
                      </a:rPr>
                      <m:t>𝐻</m:t>
                    </m:r>
                    <m:r>
                      <a:rPr lang="en-US" sz="1600" dirty="0">
                        <a:solidFill>
                          <a:srgbClr val="E8EAF0"/>
                        </a:solidFill>
                        <a:latin typeface="MiSans" pitchFamily="34" charset="-122"/>
                        <a:ea typeface="MiSans" pitchFamily="34" charset="-122"/>
                        <a:cs typeface="MiSans" pitchFamily="34" charset="-120"/>
                      </a:rPr>
                      <m:t>)</m:t>
                    </m:r>
                  </m:oMath>
                </a14:m>
                <a:endParaRPr lang="en-US" sz="1600" dirty="0"/>
              </a:p>
              <a:p>
                <a:pPr algn="l">
                  <a:lnSpc>
                    <a:spcPct val="170000"/>
                  </a:lnSpc>
                </a:pPr>
                <a:r>
                  <a:rPr lang="en-US" sz="1600" dirty="0">
                    <a:solidFill>
                      <a:srgbClr val="E8EAF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先等比例缩放，再填充黑边至 640×480</a:t>
                </a:r>
                <a:endParaRPr lang="en-US" sz="1600" dirty="0"/>
              </a:p>
              <a:p>
                <a:pPr algn="l">
                  <a:lnSpc>
                    <a:spcPct val="170000"/>
                  </a:lnSpc>
                </a:pPr>
                <a:r>
                  <a:rPr lang="en-US" sz="1400" dirty="0">
                    <a:solidFill>
                      <a:srgbClr val="8B95A5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避免直接拉伸导致人脸几何变形</a:t>
                </a:r>
                <a:endParaRPr lang="en-US" sz="1600" dirty="0"/>
              </a:p>
            </p:txBody>
          </p:sp>
        </mc:Choice>
        <mc:Fallback>
          <p:sp>
            <p:nvSpPr>
              <p:cNvPr id="16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000" y="6350000"/>
                <a:ext cx="6350000" cy="17780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18" name="Text 15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6B7FD7"/>
          </a:solidFill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检测原理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7620000" cy="533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Haar 特征与级联分类器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635000" cy="381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6" name="Text 4"/>
          <p:cNvSpPr/>
          <p:nvPr/>
        </p:nvSpPr>
        <p:spPr>
          <a:xfrm>
            <a:off x="762000" y="1968500"/>
            <a:ext cx="7620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Haar 矩形特征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：用相邻矩形区域的灰度和之差描述眼睛、鼻梁和面颊等结构的明暗关系。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积分图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：用四个点快速计算任意矩形像素和，加速滑动窗口特征计算。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AdaBoost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：从大量候选特征中选择区分能力较强的弱分类器并组合为强分类器。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4762500"/>
            <a:ext cx="7620000" cy="19685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8" name="Text 6"/>
          <p:cNvSpPr/>
          <p:nvPr/>
        </p:nvSpPr>
        <p:spPr>
          <a:xfrm>
            <a:off x="1016000" y="4889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级联结构优势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5308600"/>
            <a:ext cx="7112000" cy="133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前级快速淘汰背景窗口，减少计算量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后级处理困难候选，提高精度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直接加载 OpenCV 已训练 XML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6794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核心检测参数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762000" y="7239000"/>
          <a:ext cx="7620000" cy="1143000"/>
        </p:xfrm>
        <a:graphic>
          <a:graphicData uri="http://schemas.openxmlformats.org/drawingml/2006/table">
            <a:tbl>
              <a:tblPr/>
              <a:tblGrid>
                <a:gridCol w="1905000"/>
                <a:gridCol w="3048000"/>
                <a:gridCol w="266700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参数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F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含义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F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影响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FD7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scaleFactor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相邻尺度缩放比例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接近1搜索更细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minNeighbors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候选框邻近矩形数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高值减少误检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14" name="Text 10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</a:t>
            </a:r>
            <a:endParaRPr lang="en-US" sz="1400" dirty="0"/>
          </a:p>
        </p:txBody>
      </p:sp>
      <p:pic>
        <p:nvPicPr>
          <p:cNvPr id="16" name="图片 15" descr="sample_noise_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090" y="2047240"/>
            <a:ext cx="7699375" cy="57753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uo3dzywvqyc6/mnt/agents/output/face_detection_ppt/images/6_Dark_Theme_For_Programming_Night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890000" y="0"/>
            <a:ext cx="736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890000" y="0"/>
            <a:ext cx="7366000" cy="9144000"/>
          </a:xfrm>
          <a:prstGeom prst="rect">
            <a:avLst/>
          </a:prstGeom>
          <a:gradFill flip="none" rotWithShape="1">
            <a:gsLst>
              <a:gs pos="0">
                <a:srgbClr val="1A1C23"/>
              </a:gs>
              <a:gs pos="40000">
                <a:srgbClr val="1A1C23">
                  <a:alpha val="80000"/>
                </a:srgbClr>
              </a:gs>
              <a:gs pos="100000">
                <a:srgbClr val="1A1C23">
                  <a:alpha val="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762000" y="2540000"/>
            <a:ext cx="254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6B7FD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746500"/>
            <a:ext cx="762000" cy="508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6" name="Text 3"/>
          <p:cNvSpPr/>
          <p:nvPr/>
        </p:nvSpPr>
        <p:spPr>
          <a:xfrm>
            <a:off x="762000" y="4064000"/>
            <a:ext cx="635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系统设计与实现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889500"/>
            <a:ext cx="7620000" cy="44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模块化系统架构、核心算法实现与代码设计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9" name="Text 6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6B7FD7"/>
          </a:solidFill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系统架构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6350000" cy="533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系统总体架构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635000" cy="381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6" name="Shape 4"/>
          <p:cNvSpPr/>
          <p:nvPr/>
        </p:nvSpPr>
        <p:spPr>
          <a:xfrm>
            <a:off x="762000" y="1968500"/>
            <a:ext cx="14732000" cy="1524000"/>
          </a:xfrm>
          <a:prstGeom prst="roundRect">
            <a:avLst>
              <a:gd name="adj" fmla="val 4000"/>
            </a:avLst>
          </a:prstGeom>
          <a:solidFill>
            <a:srgbClr val="242733"/>
          </a:solidFill>
        </p:spPr>
      </p:sp>
      <p:sp>
        <p:nvSpPr>
          <p:cNvPr id="7" name="Text 5"/>
          <p:cNvSpPr/>
          <p:nvPr/>
        </p:nvSpPr>
        <p:spPr>
          <a:xfrm>
            <a:off x="1016000" y="20574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系统处理流程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3000" y="2540000"/>
            <a:ext cx="1651000" cy="635000"/>
          </a:xfrm>
          <a:prstGeom prst="roundRect">
            <a:avLst>
              <a:gd name="adj" fmla="val 10000"/>
            </a:avLst>
          </a:prstGeom>
          <a:solidFill>
            <a:srgbClr val="6B7FD7"/>
          </a:solidFill>
        </p:spPr>
      </p:sp>
      <p:sp>
        <p:nvSpPr>
          <p:cNvPr id="9" name="Text 7"/>
          <p:cNvSpPr/>
          <p:nvPr/>
        </p:nvSpPr>
        <p:spPr>
          <a:xfrm>
            <a:off x="1143000" y="2540000"/>
            <a:ext cx="165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图像输入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57500" y="2819400"/>
            <a:ext cx="381000" cy="0"/>
          </a:xfrm>
          <a:prstGeom prst="straightConnector1">
            <a:avLst/>
          </a:prstGeom>
          <a:noFill/>
          <a:ln w="25400">
            <a:solidFill>
              <a:srgbClr val="8B95A5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302000" y="2540000"/>
            <a:ext cx="1651000" cy="635000"/>
          </a:xfrm>
          <a:prstGeom prst="roundRect">
            <a:avLst>
              <a:gd name="adj" fmla="val 10000"/>
            </a:avLst>
          </a:prstGeom>
          <a:solidFill>
            <a:srgbClr val="6B7FD7"/>
          </a:solidFill>
        </p:spPr>
      </p:sp>
      <p:sp>
        <p:nvSpPr>
          <p:cNvPr id="12" name="Text 10"/>
          <p:cNvSpPr/>
          <p:nvPr/>
        </p:nvSpPr>
        <p:spPr>
          <a:xfrm>
            <a:off x="3302000" y="2540000"/>
            <a:ext cx="165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尺寸归一化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16500" y="2819400"/>
            <a:ext cx="381000" cy="0"/>
          </a:xfrm>
          <a:prstGeom prst="straightConnector1">
            <a:avLst/>
          </a:prstGeom>
          <a:noFill/>
          <a:ln w="25400">
            <a:solidFill>
              <a:srgbClr val="8B95A5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461000" y="2667000"/>
            <a:ext cx="1651000" cy="406400"/>
          </a:xfrm>
          <a:prstGeom prst="roundRect">
            <a:avLst>
              <a:gd name="adj" fmla="val 10000"/>
            </a:avLst>
          </a:prstGeom>
          <a:solidFill>
            <a:srgbClr val="4A5FBF"/>
          </a:solidFill>
        </p:spPr>
      </p:sp>
      <p:sp>
        <p:nvSpPr>
          <p:cNvPr id="15" name="Text 13"/>
          <p:cNvSpPr/>
          <p:nvPr/>
        </p:nvSpPr>
        <p:spPr>
          <a:xfrm>
            <a:off x="5461000" y="2667000"/>
            <a:ext cx="1651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7种预处理分支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75500" y="2819400"/>
            <a:ext cx="381000" cy="0"/>
          </a:xfrm>
          <a:prstGeom prst="straightConnector1">
            <a:avLst/>
          </a:prstGeom>
          <a:noFill/>
          <a:ln w="25400">
            <a:solidFill>
              <a:srgbClr val="8B95A5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7620000" y="2540000"/>
            <a:ext cx="1651000" cy="635000"/>
          </a:xfrm>
          <a:prstGeom prst="roundRect">
            <a:avLst>
              <a:gd name="adj" fmla="val 10000"/>
            </a:avLst>
          </a:prstGeom>
          <a:solidFill>
            <a:srgbClr val="6B7FD7"/>
          </a:solidFill>
        </p:spPr>
      </p:sp>
      <p:sp>
        <p:nvSpPr>
          <p:cNvPr id="18" name="Text 16"/>
          <p:cNvSpPr/>
          <p:nvPr/>
        </p:nvSpPr>
        <p:spPr>
          <a:xfrm>
            <a:off x="7620000" y="2540000"/>
            <a:ext cx="165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Haar人脸检测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334500" y="2819400"/>
            <a:ext cx="381000" cy="0"/>
          </a:xfrm>
          <a:prstGeom prst="straightConnector1">
            <a:avLst/>
          </a:prstGeom>
          <a:noFill/>
          <a:ln w="25400">
            <a:solidFill>
              <a:srgbClr val="8B95A5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9779000" y="2540000"/>
            <a:ext cx="1651000" cy="635000"/>
          </a:xfrm>
          <a:prstGeom prst="roundRect">
            <a:avLst>
              <a:gd name="adj" fmla="val 10000"/>
            </a:avLst>
          </a:prstGeom>
          <a:solidFill>
            <a:srgbClr val="6B7FD7"/>
          </a:solidFill>
        </p:spPr>
      </p:sp>
      <p:sp>
        <p:nvSpPr>
          <p:cNvPr id="21" name="Text 19"/>
          <p:cNvSpPr/>
          <p:nvPr/>
        </p:nvSpPr>
        <p:spPr>
          <a:xfrm>
            <a:off x="9779000" y="2540000"/>
            <a:ext cx="165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ROI人眼检测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1493500" y="2819400"/>
            <a:ext cx="381000" cy="0"/>
          </a:xfrm>
          <a:prstGeom prst="straightConnector1">
            <a:avLst/>
          </a:prstGeom>
          <a:noFill/>
          <a:ln w="25400">
            <a:solidFill>
              <a:srgbClr val="8B95A5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1938000" y="2667000"/>
            <a:ext cx="1651000" cy="406400"/>
          </a:xfrm>
          <a:prstGeom prst="roundRect">
            <a:avLst>
              <a:gd name="adj" fmla="val 10000"/>
            </a:avLst>
          </a:prstGeom>
          <a:solidFill>
            <a:srgbClr val="4A5FBF"/>
          </a:solidFill>
        </p:spPr>
      </p:sp>
      <p:sp>
        <p:nvSpPr>
          <p:cNvPr id="24" name="Text 22"/>
          <p:cNvSpPr/>
          <p:nvPr/>
        </p:nvSpPr>
        <p:spPr>
          <a:xfrm>
            <a:off x="11938000" y="2667000"/>
            <a:ext cx="1651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画框/拼图/统计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3716000" y="2476500"/>
            <a:ext cx="1397000" cy="762000"/>
          </a:xfrm>
          <a:prstGeom prst="roundRect">
            <a:avLst>
              <a:gd name="adj" fmla="val 10000"/>
            </a:avLst>
          </a:prstGeom>
          <a:solidFill>
            <a:srgbClr val="242733"/>
          </a:solidFill>
          <a:ln w="12700">
            <a:solidFill>
              <a:srgbClr val="6B7F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0" y="2476500"/>
            <a:ext cx="1397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JPG+CSV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+JSON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2000" y="38100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模块划分</a:t>
            </a:r>
            <a:endParaRPr lang="en-US" sz="2000" dirty="0"/>
          </a:p>
        </p:txBody>
      </p:sp>
      <p:sp>
        <p:nvSpPr>
          <p:cNvPr id="28" name="Shape 26"/>
          <p:cNvSpPr/>
          <p:nvPr>
            <p:custDataLst>
              <p:tags r:id="rId1"/>
            </p:custDataLst>
          </p:nvPr>
        </p:nvSpPr>
        <p:spPr>
          <a:xfrm>
            <a:off x="762000" y="4318000"/>
            <a:ext cx="3429000" cy="1778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29" name="Shape 27"/>
          <p:cNvSpPr/>
          <p:nvPr>
            <p:custDataLst>
              <p:tags r:id="rId2"/>
            </p:custDataLst>
          </p:nvPr>
        </p:nvSpPr>
        <p:spPr>
          <a:xfrm>
            <a:off x="1016000" y="450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1084" y="146199"/>
                </a:moveTo>
                <a:cubicBezTo>
                  <a:pt x="237863" y="143907"/>
                  <a:pt x="244975" y="147935"/>
                  <a:pt x="248031" y="155783"/>
                </a:cubicBezTo>
                <a:lnTo>
                  <a:pt x="258366" y="181898"/>
                </a:lnTo>
                <a:cubicBezTo>
                  <a:pt x="264089" y="182870"/>
                  <a:pt x="269700" y="184815"/>
                  <a:pt x="274979" y="187523"/>
                </a:cubicBezTo>
                <a:lnTo>
                  <a:pt x="294426" y="171341"/>
                </a:lnTo>
                <a:cubicBezTo>
                  <a:pt x="300260" y="166479"/>
                  <a:pt x="307983" y="167451"/>
                  <a:pt x="312928" y="173633"/>
                </a:cubicBezTo>
                <a:lnTo>
                  <a:pt x="323596" y="186968"/>
                </a:lnTo>
                <a:cubicBezTo>
                  <a:pt x="328541" y="193149"/>
                  <a:pt x="329319" y="202873"/>
                  <a:pt x="325430" y="210096"/>
                </a:cubicBezTo>
                <a:lnTo>
                  <a:pt x="312483" y="234335"/>
                </a:lnTo>
                <a:cubicBezTo>
                  <a:pt x="313539" y="237599"/>
                  <a:pt x="314484" y="241002"/>
                  <a:pt x="315262" y="244544"/>
                </a:cubicBezTo>
                <a:cubicBezTo>
                  <a:pt x="316039" y="248087"/>
                  <a:pt x="316540" y="251559"/>
                  <a:pt x="316928" y="255101"/>
                </a:cubicBezTo>
                <a:lnTo>
                  <a:pt x="337876" y="268020"/>
                </a:lnTo>
                <a:cubicBezTo>
                  <a:pt x="344154" y="271909"/>
                  <a:pt x="347377" y="280799"/>
                  <a:pt x="345543" y="289203"/>
                </a:cubicBezTo>
                <a:lnTo>
                  <a:pt x="341654" y="307400"/>
                </a:lnTo>
                <a:cubicBezTo>
                  <a:pt x="339820" y="315803"/>
                  <a:pt x="333542" y="321499"/>
                  <a:pt x="326541" y="320943"/>
                </a:cubicBezTo>
                <a:lnTo>
                  <a:pt x="303205" y="319068"/>
                </a:lnTo>
                <a:cubicBezTo>
                  <a:pt x="299704" y="324693"/>
                  <a:pt x="295648" y="329902"/>
                  <a:pt x="291036" y="334347"/>
                </a:cubicBezTo>
                <a:lnTo>
                  <a:pt x="292537" y="363448"/>
                </a:lnTo>
                <a:cubicBezTo>
                  <a:pt x="292981" y="372199"/>
                  <a:pt x="288425" y="380117"/>
                  <a:pt x="281702" y="382339"/>
                </a:cubicBezTo>
                <a:lnTo>
                  <a:pt x="267145" y="387201"/>
                </a:lnTo>
                <a:cubicBezTo>
                  <a:pt x="260366" y="389493"/>
                  <a:pt x="253309" y="385465"/>
                  <a:pt x="250198" y="377617"/>
                </a:cubicBezTo>
                <a:lnTo>
                  <a:pt x="239863" y="351502"/>
                </a:lnTo>
                <a:cubicBezTo>
                  <a:pt x="234140" y="350530"/>
                  <a:pt x="228529" y="348585"/>
                  <a:pt x="223250" y="345877"/>
                </a:cubicBezTo>
                <a:lnTo>
                  <a:pt x="203803" y="362059"/>
                </a:lnTo>
                <a:cubicBezTo>
                  <a:pt x="197969" y="366921"/>
                  <a:pt x="190246" y="365949"/>
                  <a:pt x="185301" y="359767"/>
                </a:cubicBezTo>
                <a:lnTo>
                  <a:pt x="174633" y="346432"/>
                </a:lnTo>
                <a:cubicBezTo>
                  <a:pt x="169688" y="340251"/>
                  <a:pt x="168910" y="330597"/>
                  <a:pt x="172799" y="323304"/>
                </a:cubicBezTo>
                <a:lnTo>
                  <a:pt x="185745" y="298996"/>
                </a:lnTo>
                <a:cubicBezTo>
                  <a:pt x="184690" y="295731"/>
                  <a:pt x="183745" y="292328"/>
                  <a:pt x="182967" y="288786"/>
                </a:cubicBezTo>
                <a:cubicBezTo>
                  <a:pt x="182189" y="285244"/>
                  <a:pt x="181689" y="281702"/>
                  <a:pt x="181300" y="278229"/>
                </a:cubicBezTo>
                <a:lnTo>
                  <a:pt x="160353" y="265311"/>
                </a:lnTo>
                <a:cubicBezTo>
                  <a:pt x="154075" y="261422"/>
                  <a:pt x="150908" y="252532"/>
                  <a:pt x="152686" y="244128"/>
                </a:cubicBezTo>
                <a:lnTo>
                  <a:pt x="156575" y="225931"/>
                </a:lnTo>
                <a:cubicBezTo>
                  <a:pt x="158409" y="217527"/>
                  <a:pt x="164687" y="211832"/>
                  <a:pt x="171688" y="212388"/>
                </a:cubicBezTo>
                <a:lnTo>
                  <a:pt x="194969" y="214263"/>
                </a:lnTo>
                <a:cubicBezTo>
                  <a:pt x="198469" y="208637"/>
                  <a:pt x="202525" y="203428"/>
                  <a:pt x="207137" y="198983"/>
                </a:cubicBezTo>
                <a:lnTo>
                  <a:pt x="205637" y="169952"/>
                </a:lnTo>
                <a:cubicBezTo>
                  <a:pt x="205192" y="161201"/>
                  <a:pt x="209748" y="153283"/>
                  <a:pt x="216471" y="151061"/>
                </a:cubicBezTo>
                <a:lnTo>
                  <a:pt x="231029" y="146199"/>
                </a:lnTo>
                <a:close/>
                <a:moveTo>
                  <a:pt x="249142" y="236141"/>
                </a:moveTo>
                <a:cubicBezTo>
                  <a:pt x="235649" y="236160"/>
                  <a:pt x="224707" y="249869"/>
                  <a:pt x="224723" y="266735"/>
                </a:cubicBezTo>
                <a:cubicBezTo>
                  <a:pt x="224738" y="283601"/>
                  <a:pt x="235705" y="297279"/>
                  <a:pt x="249198" y="297259"/>
                </a:cubicBezTo>
                <a:cubicBezTo>
                  <a:pt x="262691" y="297240"/>
                  <a:pt x="273633" y="283531"/>
                  <a:pt x="273618" y="266665"/>
                </a:cubicBezTo>
                <a:cubicBezTo>
                  <a:pt x="273602" y="249799"/>
                  <a:pt x="262635" y="236121"/>
                  <a:pt x="249142" y="236141"/>
                </a:cubicBezTo>
                <a:close/>
                <a:moveTo>
                  <a:pt x="124960" y="-31601"/>
                </a:moveTo>
                <a:lnTo>
                  <a:pt x="139517" y="-26739"/>
                </a:lnTo>
                <a:cubicBezTo>
                  <a:pt x="146241" y="-24448"/>
                  <a:pt x="150797" y="-16530"/>
                  <a:pt x="150352" y="-7848"/>
                </a:cubicBezTo>
                <a:lnTo>
                  <a:pt x="148852" y="21183"/>
                </a:lnTo>
                <a:cubicBezTo>
                  <a:pt x="153464" y="25628"/>
                  <a:pt x="157520" y="30768"/>
                  <a:pt x="161020" y="36463"/>
                </a:cubicBezTo>
                <a:lnTo>
                  <a:pt x="184356" y="34588"/>
                </a:lnTo>
                <a:cubicBezTo>
                  <a:pt x="191302" y="34032"/>
                  <a:pt x="197636" y="39727"/>
                  <a:pt x="199469" y="48131"/>
                </a:cubicBezTo>
                <a:lnTo>
                  <a:pt x="203359" y="66328"/>
                </a:lnTo>
                <a:cubicBezTo>
                  <a:pt x="205137" y="74732"/>
                  <a:pt x="201970" y="83622"/>
                  <a:pt x="195691" y="87511"/>
                </a:cubicBezTo>
                <a:lnTo>
                  <a:pt x="174744" y="100429"/>
                </a:lnTo>
                <a:cubicBezTo>
                  <a:pt x="174355" y="103971"/>
                  <a:pt x="173800" y="107513"/>
                  <a:pt x="173077" y="110986"/>
                </a:cubicBezTo>
                <a:cubicBezTo>
                  <a:pt x="172355" y="114459"/>
                  <a:pt x="171355" y="117931"/>
                  <a:pt x="170299" y="121196"/>
                </a:cubicBezTo>
                <a:lnTo>
                  <a:pt x="183245" y="145504"/>
                </a:lnTo>
                <a:cubicBezTo>
                  <a:pt x="187135" y="152797"/>
                  <a:pt x="186357" y="162451"/>
                  <a:pt x="181412" y="168632"/>
                </a:cubicBezTo>
                <a:lnTo>
                  <a:pt x="170744" y="181967"/>
                </a:lnTo>
                <a:cubicBezTo>
                  <a:pt x="165799" y="188149"/>
                  <a:pt x="158075" y="189121"/>
                  <a:pt x="152241" y="184259"/>
                </a:cubicBezTo>
                <a:lnTo>
                  <a:pt x="132794" y="168077"/>
                </a:lnTo>
                <a:cubicBezTo>
                  <a:pt x="127516" y="170785"/>
                  <a:pt x="121904" y="172730"/>
                  <a:pt x="116181" y="173702"/>
                </a:cubicBezTo>
                <a:lnTo>
                  <a:pt x="105847" y="199817"/>
                </a:lnTo>
                <a:cubicBezTo>
                  <a:pt x="102735" y="207665"/>
                  <a:pt x="95623" y="211624"/>
                  <a:pt x="88900" y="209401"/>
                </a:cubicBezTo>
                <a:lnTo>
                  <a:pt x="74343" y="204539"/>
                </a:lnTo>
                <a:cubicBezTo>
                  <a:pt x="67564" y="202248"/>
                  <a:pt x="63063" y="194330"/>
                  <a:pt x="63508" y="185648"/>
                </a:cubicBezTo>
                <a:lnTo>
                  <a:pt x="65008" y="156547"/>
                </a:lnTo>
                <a:cubicBezTo>
                  <a:pt x="60396" y="152102"/>
                  <a:pt x="56340" y="146963"/>
                  <a:pt x="52840" y="141268"/>
                </a:cubicBezTo>
                <a:lnTo>
                  <a:pt x="29504" y="143143"/>
                </a:lnTo>
                <a:cubicBezTo>
                  <a:pt x="22558" y="143699"/>
                  <a:pt x="16224" y="138003"/>
                  <a:pt x="14391" y="129600"/>
                </a:cubicBezTo>
                <a:lnTo>
                  <a:pt x="10501" y="111403"/>
                </a:lnTo>
                <a:cubicBezTo>
                  <a:pt x="8723" y="102999"/>
                  <a:pt x="11890" y="94109"/>
                  <a:pt x="18169" y="90220"/>
                </a:cubicBezTo>
                <a:lnTo>
                  <a:pt x="39116" y="77301"/>
                </a:lnTo>
                <a:cubicBezTo>
                  <a:pt x="39505" y="73759"/>
                  <a:pt x="40061" y="70287"/>
                  <a:pt x="40783" y="66744"/>
                </a:cubicBezTo>
                <a:cubicBezTo>
                  <a:pt x="41561" y="63202"/>
                  <a:pt x="42450" y="59799"/>
                  <a:pt x="43561" y="56535"/>
                </a:cubicBezTo>
                <a:lnTo>
                  <a:pt x="30615" y="32296"/>
                </a:lnTo>
                <a:cubicBezTo>
                  <a:pt x="26726" y="25003"/>
                  <a:pt x="27503" y="15349"/>
                  <a:pt x="32448" y="9168"/>
                </a:cubicBezTo>
                <a:lnTo>
                  <a:pt x="43116" y="-4167"/>
                </a:lnTo>
                <a:cubicBezTo>
                  <a:pt x="48062" y="-10349"/>
                  <a:pt x="55785" y="-11321"/>
                  <a:pt x="61619" y="-6459"/>
                </a:cubicBezTo>
                <a:lnTo>
                  <a:pt x="81066" y="9723"/>
                </a:lnTo>
                <a:cubicBezTo>
                  <a:pt x="86344" y="7015"/>
                  <a:pt x="91956" y="5070"/>
                  <a:pt x="97679" y="4098"/>
                </a:cubicBezTo>
                <a:lnTo>
                  <a:pt x="108013" y="-22017"/>
                </a:lnTo>
                <a:cubicBezTo>
                  <a:pt x="111125" y="-29865"/>
                  <a:pt x="118181" y="-33824"/>
                  <a:pt x="124960" y="-31601"/>
                </a:cubicBezTo>
                <a:close/>
                <a:moveTo>
                  <a:pt x="106902" y="58341"/>
                </a:moveTo>
                <a:cubicBezTo>
                  <a:pt x="93409" y="58341"/>
                  <a:pt x="82455" y="72034"/>
                  <a:pt x="82455" y="88900"/>
                </a:cubicBezTo>
                <a:cubicBezTo>
                  <a:pt x="82455" y="105766"/>
                  <a:pt x="93409" y="119459"/>
                  <a:pt x="106902" y="119459"/>
                </a:cubicBezTo>
                <a:cubicBezTo>
                  <a:pt x="120395" y="119459"/>
                  <a:pt x="131350" y="105766"/>
                  <a:pt x="131350" y="88900"/>
                </a:cubicBezTo>
                <a:cubicBezTo>
                  <a:pt x="131350" y="72034"/>
                  <a:pt x="120395" y="58341"/>
                  <a:pt x="106902" y="58341"/>
                </a:cubicBezTo>
                <a:close/>
              </a:path>
            </a:pathLst>
          </a:custGeom>
          <a:solidFill>
            <a:srgbClr val="6B7FD7"/>
          </a:solidFill>
        </p:spPr>
      </p:sp>
      <p:sp>
        <p:nvSpPr>
          <p:cNvPr id="30" name="Text 28"/>
          <p:cNvSpPr/>
          <p:nvPr>
            <p:custDataLst>
              <p:tags r:id="rId3"/>
            </p:custDataLst>
          </p:nvPr>
        </p:nvSpPr>
        <p:spPr>
          <a:xfrm>
            <a:off x="1460500" y="45085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config.py</a:t>
            </a:r>
            <a:endParaRPr lang="en-US" sz="1600" dirty="0"/>
          </a:p>
        </p:txBody>
      </p:sp>
      <p:sp>
        <p:nvSpPr>
          <p:cNvPr id="31" name="Text 29"/>
          <p:cNvSpPr/>
          <p:nvPr>
            <p:custDataLst>
              <p:tags r:id="rId4"/>
            </p:custDataLst>
          </p:nvPr>
        </p:nvSpPr>
        <p:spPr>
          <a:xfrm>
            <a:off x="1016000" y="4953000"/>
            <a:ext cx="29210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集中管理预处理参数和检测参数，Haar文件路径自动定位</a:t>
            </a:r>
            <a:endParaRPr lang="en-US" sz="1400" dirty="0"/>
          </a:p>
        </p:txBody>
      </p:sp>
      <p:sp>
        <p:nvSpPr>
          <p:cNvPr id="32" name="Shape 30"/>
          <p:cNvSpPr/>
          <p:nvPr>
            <p:custDataLst>
              <p:tags r:id="rId5"/>
            </p:custDataLst>
          </p:nvPr>
        </p:nvSpPr>
        <p:spPr>
          <a:xfrm>
            <a:off x="4445000" y="4318000"/>
            <a:ext cx="3429000" cy="1778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33" name="Shape 31"/>
          <p:cNvSpPr/>
          <p:nvPr>
            <p:custDataLst>
              <p:tags r:id="rId6"/>
            </p:custDataLst>
          </p:nvPr>
        </p:nvSpPr>
        <p:spPr>
          <a:xfrm>
            <a:off x="4699000" y="450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44450"/>
                </a:moveTo>
                <a:cubicBezTo>
                  <a:pt x="0" y="19933"/>
                  <a:pt x="26577" y="0"/>
                  <a:pt x="59267" y="0"/>
                </a:cubicBezTo>
                <a:lnTo>
                  <a:pt x="197710" y="0"/>
                </a:lnTo>
                <a:cubicBezTo>
                  <a:pt x="213453" y="0"/>
                  <a:pt x="228547" y="4653"/>
                  <a:pt x="239660" y="12988"/>
                </a:cubicBezTo>
                <a:lnTo>
                  <a:pt x="338283" y="87025"/>
                </a:lnTo>
                <a:cubicBezTo>
                  <a:pt x="349396" y="95359"/>
                  <a:pt x="355600" y="106680"/>
                  <a:pt x="355600" y="118487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92617" y="40630"/>
                </a:moveTo>
                <a:lnTo>
                  <a:pt x="192617" y="105569"/>
                </a:lnTo>
                <a:cubicBezTo>
                  <a:pt x="192617" y="114806"/>
                  <a:pt x="202525" y="122238"/>
                  <a:pt x="214842" y="122238"/>
                </a:cubicBezTo>
                <a:lnTo>
                  <a:pt x="301427" y="122238"/>
                </a:lnTo>
                <a:lnTo>
                  <a:pt x="192617" y="40630"/>
                </a:lnTo>
                <a:close/>
                <a:moveTo>
                  <a:pt x="118533" y="177800"/>
                </a:moveTo>
                <a:cubicBezTo>
                  <a:pt x="118533" y="165534"/>
                  <a:pt x="105255" y="155575"/>
                  <a:pt x="88900" y="155575"/>
                </a:cubicBezTo>
                <a:cubicBezTo>
                  <a:pt x="72545" y="155575"/>
                  <a:pt x="59267" y="165534"/>
                  <a:pt x="59267" y="177800"/>
                </a:cubicBezTo>
                <a:cubicBezTo>
                  <a:pt x="59267" y="190066"/>
                  <a:pt x="72545" y="200025"/>
                  <a:pt x="88900" y="200025"/>
                </a:cubicBezTo>
                <a:cubicBezTo>
                  <a:pt x="105255" y="200025"/>
                  <a:pt x="118533" y="190066"/>
                  <a:pt x="118533" y="177800"/>
                </a:cubicBezTo>
                <a:close/>
                <a:moveTo>
                  <a:pt x="85751" y="311150"/>
                </a:moveTo>
                <a:lnTo>
                  <a:pt x="269849" y="311150"/>
                </a:lnTo>
                <a:cubicBezTo>
                  <a:pt x="284480" y="311150"/>
                  <a:pt x="296333" y="302260"/>
                  <a:pt x="296333" y="291286"/>
                </a:cubicBezTo>
                <a:cubicBezTo>
                  <a:pt x="296333" y="286216"/>
                  <a:pt x="293740" y="281285"/>
                  <a:pt x="289018" y="277604"/>
                </a:cubicBezTo>
                <a:lnTo>
                  <a:pt x="199377" y="206901"/>
                </a:lnTo>
                <a:cubicBezTo>
                  <a:pt x="193821" y="202525"/>
                  <a:pt x="186042" y="200025"/>
                  <a:pt x="177893" y="200025"/>
                </a:cubicBezTo>
                <a:lnTo>
                  <a:pt x="177615" y="200025"/>
                </a:lnTo>
                <a:cubicBezTo>
                  <a:pt x="169466" y="200025"/>
                  <a:pt x="161779" y="202525"/>
                  <a:pt x="156131" y="206901"/>
                </a:cubicBezTo>
                <a:lnTo>
                  <a:pt x="66582" y="277604"/>
                </a:lnTo>
                <a:cubicBezTo>
                  <a:pt x="61860" y="281285"/>
                  <a:pt x="59267" y="286216"/>
                  <a:pt x="59267" y="291286"/>
                </a:cubicBezTo>
                <a:cubicBezTo>
                  <a:pt x="59267" y="302260"/>
                  <a:pt x="71120" y="311150"/>
                  <a:pt x="85751" y="311150"/>
                </a:cubicBezTo>
                <a:close/>
              </a:path>
            </a:pathLst>
          </a:custGeom>
          <a:solidFill>
            <a:srgbClr val="6B7FD7"/>
          </a:solidFill>
        </p:spPr>
      </p:sp>
      <p:sp>
        <p:nvSpPr>
          <p:cNvPr id="34" name="Text 32"/>
          <p:cNvSpPr/>
          <p:nvPr>
            <p:custDataLst>
              <p:tags r:id="rId7"/>
            </p:custDataLst>
          </p:nvPr>
        </p:nvSpPr>
        <p:spPr>
          <a:xfrm>
            <a:off x="5143500" y="45085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image_io.py</a:t>
            </a:r>
            <a:endParaRPr lang="en-US" sz="1600" dirty="0"/>
          </a:p>
        </p:txBody>
      </p:sp>
      <p:sp>
        <p:nvSpPr>
          <p:cNvPr id="35" name="Text 33"/>
          <p:cNvSpPr/>
          <p:nvPr>
            <p:custDataLst>
              <p:tags r:id="rId8"/>
            </p:custDataLst>
          </p:nvPr>
        </p:nvSpPr>
        <p:spPr>
          <a:xfrm>
            <a:off x="4699000" y="4953000"/>
            <a:ext cx="29210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中文路径安全读写，numpy.fromfile + cv2.imdecode</a:t>
            </a:r>
            <a:endParaRPr lang="en-US" sz="1400" dirty="0"/>
          </a:p>
        </p:txBody>
      </p:sp>
      <p:sp>
        <p:nvSpPr>
          <p:cNvPr id="36" name="Shape 34"/>
          <p:cNvSpPr/>
          <p:nvPr>
            <p:custDataLst>
              <p:tags r:id="rId9"/>
            </p:custDataLst>
          </p:nvPr>
        </p:nvSpPr>
        <p:spPr>
          <a:xfrm>
            <a:off x="8128000" y="4318000"/>
            <a:ext cx="3429000" cy="1778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37" name="Shape 35"/>
          <p:cNvSpPr/>
          <p:nvPr>
            <p:custDataLst>
              <p:tags r:id="rId10"/>
            </p:custDataLst>
          </p:nvPr>
        </p:nvSpPr>
        <p:spPr>
          <a:xfrm>
            <a:off x="8382000" y="450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2613" y="-18752"/>
                </a:moveTo>
                <a:lnTo>
                  <a:pt x="171750" y="6806"/>
                </a:lnTo>
                <a:lnTo>
                  <a:pt x="194469" y="17085"/>
                </a:lnTo>
                <a:cubicBezTo>
                  <a:pt x="196321" y="17919"/>
                  <a:pt x="197556" y="20003"/>
                  <a:pt x="197556" y="22225"/>
                </a:cubicBezTo>
                <a:cubicBezTo>
                  <a:pt x="197556" y="24448"/>
                  <a:pt x="196321" y="26531"/>
                  <a:pt x="194469" y="27365"/>
                </a:cubicBezTo>
                <a:lnTo>
                  <a:pt x="171750" y="37644"/>
                </a:lnTo>
                <a:lnTo>
                  <a:pt x="162613" y="63202"/>
                </a:lnTo>
                <a:cubicBezTo>
                  <a:pt x="161872" y="65286"/>
                  <a:pt x="160020" y="66675"/>
                  <a:pt x="158044" y="66675"/>
                </a:cubicBezTo>
                <a:cubicBezTo>
                  <a:pt x="156069" y="66675"/>
                  <a:pt x="154217" y="65286"/>
                  <a:pt x="153476" y="63202"/>
                </a:cubicBezTo>
                <a:lnTo>
                  <a:pt x="144339" y="37644"/>
                </a:lnTo>
                <a:lnTo>
                  <a:pt x="121620" y="27365"/>
                </a:lnTo>
                <a:cubicBezTo>
                  <a:pt x="119768" y="26531"/>
                  <a:pt x="118533" y="24447"/>
                  <a:pt x="118533" y="22225"/>
                </a:cubicBezTo>
                <a:cubicBezTo>
                  <a:pt x="118533" y="20003"/>
                  <a:pt x="119768" y="17919"/>
                  <a:pt x="121620" y="17085"/>
                </a:cubicBezTo>
                <a:lnTo>
                  <a:pt x="144339" y="6806"/>
                </a:lnTo>
                <a:lnTo>
                  <a:pt x="153476" y="-18752"/>
                </a:lnTo>
                <a:cubicBezTo>
                  <a:pt x="154217" y="-20836"/>
                  <a:pt x="156069" y="-22225"/>
                  <a:pt x="158044" y="-22225"/>
                </a:cubicBezTo>
                <a:cubicBezTo>
                  <a:pt x="160020" y="-22225"/>
                  <a:pt x="161872" y="-20836"/>
                  <a:pt x="162613" y="-18752"/>
                </a:cubicBezTo>
                <a:close/>
                <a:moveTo>
                  <a:pt x="68342" y="28962"/>
                </a:moveTo>
                <a:lnTo>
                  <a:pt x="81615" y="63758"/>
                </a:lnTo>
                <a:lnTo>
                  <a:pt x="112545" y="78690"/>
                </a:lnTo>
                <a:cubicBezTo>
                  <a:pt x="116187" y="80427"/>
                  <a:pt x="118533" y="84455"/>
                  <a:pt x="118533" y="88900"/>
                </a:cubicBezTo>
                <a:cubicBezTo>
                  <a:pt x="118533" y="93345"/>
                  <a:pt x="116187" y="97373"/>
                  <a:pt x="112545" y="99110"/>
                </a:cubicBezTo>
                <a:lnTo>
                  <a:pt x="81615" y="114042"/>
                </a:lnTo>
                <a:lnTo>
                  <a:pt x="68342" y="148838"/>
                </a:lnTo>
                <a:cubicBezTo>
                  <a:pt x="66798" y="152936"/>
                  <a:pt x="63218" y="155575"/>
                  <a:pt x="59267" y="155575"/>
                </a:cubicBezTo>
                <a:cubicBezTo>
                  <a:pt x="55316" y="155575"/>
                  <a:pt x="51735" y="152936"/>
                  <a:pt x="50191" y="148838"/>
                </a:cubicBezTo>
                <a:lnTo>
                  <a:pt x="36918" y="114042"/>
                </a:lnTo>
                <a:lnTo>
                  <a:pt x="5988" y="99110"/>
                </a:lnTo>
                <a:cubicBezTo>
                  <a:pt x="2346" y="97373"/>
                  <a:pt x="0" y="93345"/>
                  <a:pt x="0" y="88900"/>
                </a:cubicBezTo>
                <a:cubicBezTo>
                  <a:pt x="0" y="84455"/>
                  <a:pt x="2346" y="80427"/>
                  <a:pt x="5988" y="78690"/>
                </a:cubicBezTo>
                <a:lnTo>
                  <a:pt x="36918" y="63758"/>
                </a:lnTo>
                <a:lnTo>
                  <a:pt x="50191" y="28962"/>
                </a:lnTo>
                <a:cubicBezTo>
                  <a:pt x="51735" y="24864"/>
                  <a:pt x="55316" y="22225"/>
                  <a:pt x="59267" y="22225"/>
                </a:cubicBezTo>
                <a:cubicBezTo>
                  <a:pt x="63218" y="22225"/>
                  <a:pt x="66798" y="24864"/>
                  <a:pt x="68342" y="28962"/>
                </a:cubicBezTo>
                <a:close/>
                <a:moveTo>
                  <a:pt x="286456" y="211138"/>
                </a:moveTo>
                <a:cubicBezTo>
                  <a:pt x="290407" y="211138"/>
                  <a:pt x="293987" y="213777"/>
                  <a:pt x="295531" y="217874"/>
                </a:cubicBezTo>
                <a:lnTo>
                  <a:pt x="308804" y="252670"/>
                </a:lnTo>
                <a:lnTo>
                  <a:pt x="339734" y="267603"/>
                </a:lnTo>
                <a:cubicBezTo>
                  <a:pt x="343376" y="269339"/>
                  <a:pt x="345722" y="273368"/>
                  <a:pt x="345722" y="277813"/>
                </a:cubicBezTo>
                <a:cubicBezTo>
                  <a:pt x="345722" y="282257"/>
                  <a:pt x="343376" y="286286"/>
                  <a:pt x="339734" y="288022"/>
                </a:cubicBezTo>
                <a:lnTo>
                  <a:pt x="308804" y="302955"/>
                </a:lnTo>
                <a:lnTo>
                  <a:pt x="295531" y="337751"/>
                </a:lnTo>
                <a:cubicBezTo>
                  <a:pt x="293987" y="341848"/>
                  <a:pt x="290407" y="344488"/>
                  <a:pt x="286456" y="344488"/>
                </a:cubicBezTo>
                <a:cubicBezTo>
                  <a:pt x="282504" y="344488"/>
                  <a:pt x="278924" y="341848"/>
                  <a:pt x="277380" y="337751"/>
                </a:cubicBezTo>
                <a:lnTo>
                  <a:pt x="264107" y="302955"/>
                </a:lnTo>
                <a:lnTo>
                  <a:pt x="233177" y="288022"/>
                </a:lnTo>
                <a:cubicBezTo>
                  <a:pt x="229535" y="286286"/>
                  <a:pt x="227189" y="282257"/>
                  <a:pt x="227189" y="277813"/>
                </a:cubicBezTo>
                <a:cubicBezTo>
                  <a:pt x="227189" y="273368"/>
                  <a:pt x="229535" y="269339"/>
                  <a:pt x="233177" y="267603"/>
                </a:cubicBezTo>
                <a:lnTo>
                  <a:pt x="264107" y="252670"/>
                </a:lnTo>
                <a:lnTo>
                  <a:pt x="277380" y="217874"/>
                </a:lnTo>
                <a:cubicBezTo>
                  <a:pt x="278924" y="213777"/>
                  <a:pt x="282504" y="211138"/>
                  <a:pt x="286456" y="211138"/>
                </a:cubicBezTo>
                <a:close/>
                <a:moveTo>
                  <a:pt x="283986" y="0"/>
                </a:moveTo>
                <a:cubicBezTo>
                  <a:pt x="290777" y="0"/>
                  <a:pt x="297321" y="3056"/>
                  <a:pt x="302198" y="8473"/>
                </a:cubicBezTo>
                <a:lnTo>
                  <a:pt x="328313" y="37852"/>
                </a:lnTo>
                <a:cubicBezTo>
                  <a:pt x="333128" y="43339"/>
                  <a:pt x="335844" y="50701"/>
                  <a:pt x="335844" y="58341"/>
                </a:cubicBezTo>
                <a:cubicBezTo>
                  <a:pt x="335844" y="65980"/>
                  <a:pt x="333128" y="73343"/>
                  <a:pt x="328313" y="78829"/>
                </a:cubicBezTo>
                <a:lnTo>
                  <a:pt x="273861" y="140087"/>
                </a:lnTo>
                <a:lnTo>
                  <a:pt x="211323" y="69731"/>
                </a:lnTo>
                <a:lnTo>
                  <a:pt x="265774" y="8473"/>
                </a:lnTo>
                <a:cubicBezTo>
                  <a:pt x="270651" y="3056"/>
                  <a:pt x="277195" y="0"/>
                  <a:pt x="283986" y="0"/>
                </a:cubicBezTo>
                <a:close/>
                <a:moveTo>
                  <a:pt x="27287" y="276771"/>
                </a:moveTo>
                <a:lnTo>
                  <a:pt x="190394" y="93276"/>
                </a:lnTo>
                <a:lnTo>
                  <a:pt x="252933" y="163632"/>
                </a:lnTo>
                <a:lnTo>
                  <a:pt x="89826" y="347127"/>
                </a:lnTo>
                <a:cubicBezTo>
                  <a:pt x="84949" y="352544"/>
                  <a:pt x="78405" y="355600"/>
                  <a:pt x="71614" y="355600"/>
                </a:cubicBezTo>
                <a:cubicBezTo>
                  <a:pt x="64823" y="355600"/>
                  <a:pt x="58279" y="352544"/>
                  <a:pt x="53402" y="347127"/>
                </a:cubicBezTo>
                <a:lnTo>
                  <a:pt x="27287" y="317748"/>
                </a:lnTo>
                <a:cubicBezTo>
                  <a:pt x="22472" y="312261"/>
                  <a:pt x="19756" y="304899"/>
                  <a:pt x="19756" y="297259"/>
                </a:cubicBezTo>
                <a:cubicBezTo>
                  <a:pt x="19756" y="289620"/>
                  <a:pt x="22472" y="282257"/>
                  <a:pt x="27287" y="276771"/>
                </a:cubicBezTo>
                <a:close/>
              </a:path>
            </a:pathLst>
          </a:custGeom>
          <a:solidFill>
            <a:srgbClr val="6B7FD7"/>
          </a:solidFill>
        </p:spPr>
      </p:sp>
      <p:sp>
        <p:nvSpPr>
          <p:cNvPr id="38" name="Text 36"/>
          <p:cNvSpPr/>
          <p:nvPr>
            <p:custDataLst>
              <p:tags r:id="rId11"/>
            </p:custDataLst>
          </p:nvPr>
        </p:nvSpPr>
        <p:spPr>
          <a:xfrm>
            <a:off x="8826500" y="45085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preprocess.py</a:t>
            </a:r>
            <a:endParaRPr lang="en-US" sz="1600" dirty="0"/>
          </a:p>
        </p:txBody>
      </p:sp>
      <p:sp>
        <p:nvSpPr>
          <p:cNvPr id="39" name="Text 37"/>
          <p:cNvSpPr/>
          <p:nvPr>
            <p:custDataLst>
              <p:tags r:id="rId12"/>
            </p:custDataLst>
          </p:nvPr>
        </p:nvSpPr>
        <p:spPr>
          <a:xfrm>
            <a:off x="8382000" y="4953000"/>
            <a:ext cx="29210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灰度化、均衡化、滤波、Gamma校正，每种操作独立函数</a:t>
            </a:r>
            <a:endParaRPr lang="en-US" sz="1400" dirty="0"/>
          </a:p>
        </p:txBody>
      </p:sp>
      <p:sp>
        <p:nvSpPr>
          <p:cNvPr id="40" name="Shape 38"/>
          <p:cNvSpPr/>
          <p:nvPr>
            <p:custDataLst>
              <p:tags r:id="rId13"/>
            </p:custDataLst>
          </p:nvPr>
        </p:nvSpPr>
        <p:spPr>
          <a:xfrm>
            <a:off x="11811000" y="4318000"/>
            <a:ext cx="3683000" cy="1778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41" name="Shape 39"/>
          <p:cNvSpPr/>
          <p:nvPr>
            <p:custDataLst>
              <p:tags r:id="rId14"/>
            </p:custDataLst>
          </p:nvPr>
        </p:nvSpPr>
        <p:spPr>
          <a:xfrm>
            <a:off x="12065000" y="450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-11112"/>
                </a:moveTo>
                <a:cubicBezTo>
                  <a:pt x="188727" y="-11112"/>
                  <a:pt x="197556" y="-1181"/>
                  <a:pt x="197556" y="11112"/>
                </a:cubicBezTo>
                <a:lnTo>
                  <a:pt x="197556" y="23822"/>
                </a:lnTo>
                <a:cubicBezTo>
                  <a:pt x="258119" y="33546"/>
                  <a:pt x="306026" y="87441"/>
                  <a:pt x="314669" y="155575"/>
                </a:cubicBezTo>
                <a:lnTo>
                  <a:pt x="325967" y="155575"/>
                </a:lnTo>
                <a:cubicBezTo>
                  <a:pt x="336894" y="155575"/>
                  <a:pt x="345722" y="165507"/>
                  <a:pt x="345722" y="177800"/>
                </a:cubicBezTo>
                <a:cubicBezTo>
                  <a:pt x="345722" y="190093"/>
                  <a:pt x="336894" y="200025"/>
                  <a:pt x="325967" y="200025"/>
                </a:cubicBezTo>
                <a:lnTo>
                  <a:pt x="314669" y="200025"/>
                </a:lnTo>
                <a:cubicBezTo>
                  <a:pt x="306026" y="268159"/>
                  <a:pt x="258119" y="322054"/>
                  <a:pt x="197556" y="331778"/>
                </a:cubicBezTo>
                <a:lnTo>
                  <a:pt x="197556" y="344488"/>
                </a:lnTo>
                <a:cubicBezTo>
                  <a:pt x="197556" y="356781"/>
                  <a:pt x="188727" y="366712"/>
                  <a:pt x="177800" y="366712"/>
                </a:cubicBezTo>
                <a:cubicBezTo>
                  <a:pt x="166873" y="366712"/>
                  <a:pt x="158044" y="356781"/>
                  <a:pt x="158044" y="344488"/>
                </a:cubicBezTo>
                <a:lnTo>
                  <a:pt x="158044" y="331778"/>
                </a:lnTo>
                <a:cubicBezTo>
                  <a:pt x="97481" y="322054"/>
                  <a:pt x="49574" y="268159"/>
                  <a:pt x="40931" y="200025"/>
                </a:cubicBezTo>
                <a:lnTo>
                  <a:pt x="29633" y="200025"/>
                </a:lnTo>
                <a:cubicBezTo>
                  <a:pt x="18706" y="200025"/>
                  <a:pt x="9878" y="190093"/>
                  <a:pt x="9878" y="177800"/>
                </a:cubicBezTo>
                <a:cubicBezTo>
                  <a:pt x="9878" y="165507"/>
                  <a:pt x="18706" y="155575"/>
                  <a:pt x="29633" y="155575"/>
                </a:cubicBezTo>
                <a:lnTo>
                  <a:pt x="40931" y="155575"/>
                </a:lnTo>
                <a:cubicBezTo>
                  <a:pt x="49574" y="87441"/>
                  <a:pt x="97481" y="33546"/>
                  <a:pt x="158044" y="23822"/>
                </a:cubicBezTo>
                <a:lnTo>
                  <a:pt x="158044" y="11112"/>
                </a:lnTo>
                <a:cubicBezTo>
                  <a:pt x="158044" y="-1181"/>
                  <a:pt x="166873" y="-11112"/>
                  <a:pt x="177800" y="-11112"/>
                </a:cubicBezTo>
                <a:close/>
                <a:moveTo>
                  <a:pt x="80998" y="200025"/>
                </a:moveTo>
                <a:cubicBezTo>
                  <a:pt x="88838" y="243572"/>
                  <a:pt x="119336" y="277882"/>
                  <a:pt x="158044" y="286703"/>
                </a:cubicBezTo>
                <a:lnTo>
                  <a:pt x="158044" y="277813"/>
                </a:lnTo>
                <a:cubicBezTo>
                  <a:pt x="158044" y="265519"/>
                  <a:pt x="166873" y="255587"/>
                  <a:pt x="177800" y="255587"/>
                </a:cubicBezTo>
                <a:cubicBezTo>
                  <a:pt x="188727" y="255587"/>
                  <a:pt x="197556" y="265519"/>
                  <a:pt x="197556" y="277813"/>
                </a:cubicBezTo>
                <a:lnTo>
                  <a:pt x="197556" y="286703"/>
                </a:lnTo>
                <a:cubicBezTo>
                  <a:pt x="236264" y="277882"/>
                  <a:pt x="266762" y="243572"/>
                  <a:pt x="274602" y="200025"/>
                </a:cubicBezTo>
                <a:lnTo>
                  <a:pt x="266700" y="200025"/>
                </a:lnTo>
                <a:cubicBezTo>
                  <a:pt x="255773" y="200025"/>
                  <a:pt x="246944" y="190093"/>
                  <a:pt x="246944" y="177800"/>
                </a:cubicBezTo>
                <a:cubicBezTo>
                  <a:pt x="246944" y="165507"/>
                  <a:pt x="255773" y="155575"/>
                  <a:pt x="266700" y="155575"/>
                </a:cubicBezTo>
                <a:lnTo>
                  <a:pt x="274602" y="155575"/>
                </a:lnTo>
                <a:cubicBezTo>
                  <a:pt x="266762" y="112028"/>
                  <a:pt x="236264" y="77718"/>
                  <a:pt x="197556" y="68898"/>
                </a:cubicBezTo>
                <a:lnTo>
                  <a:pt x="197556" y="77788"/>
                </a:lnTo>
                <a:cubicBezTo>
                  <a:pt x="197556" y="90081"/>
                  <a:pt x="188727" y="100013"/>
                  <a:pt x="177800" y="100013"/>
                </a:cubicBezTo>
                <a:cubicBezTo>
                  <a:pt x="166873" y="100013"/>
                  <a:pt x="158044" y="90081"/>
                  <a:pt x="158044" y="77788"/>
                </a:cubicBezTo>
                <a:lnTo>
                  <a:pt x="158044" y="68898"/>
                </a:lnTo>
                <a:cubicBezTo>
                  <a:pt x="119336" y="77718"/>
                  <a:pt x="88838" y="112028"/>
                  <a:pt x="80998" y="155575"/>
                </a:cubicBezTo>
                <a:lnTo>
                  <a:pt x="88900" y="155575"/>
                </a:lnTo>
                <a:cubicBezTo>
                  <a:pt x="99827" y="155575"/>
                  <a:pt x="108656" y="165507"/>
                  <a:pt x="108656" y="177800"/>
                </a:cubicBezTo>
                <a:cubicBezTo>
                  <a:pt x="108656" y="190093"/>
                  <a:pt x="99827" y="200025"/>
                  <a:pt x="88900" y="200025"/>
                </a:cubicBezTo>
                <a:lnTo>
                  <a:pt x="80998" y="200025"/>
                </a:lnTo>
                <a:close/>
                <a:moveTo>
                  <a:pt x="177800" y="144463"/>
                </a:moveTo>
                <a:cubicBezTo>
                  <a:pt x="194155" y="144463"/>
                  <a:pt x="207433" y="159401"/>
                  <a:pt x="207433" y="177800"/>
                </a:cubicBezTo>
                <a:cubicBezTo>
                  <a:pt x="207433" y="196199"/>
                  <a:pt x="194155" y="211138"/>
                  <a:pt x="177800" y="211138"/>
                </a:cubicBezTo>
                <a:cubicBezTo>
                  <a:pt x="161445" y="211138"/>
                  <a:pt x="148167" y="196199"/>
                  <a:pt x="148167" y="177800"/>
                </a:cubicBezTo>
                <a:cubicBezTo>
                  <a:pt x="148167" y="159401"/>
                  <a:pt x="161445" y="144463"/>
                  <a:pt x="177800" y="144463"/>
                </a:cubicBezTo>
                <a:close/>
              </a:path>
            </a:pathLst>
          </a:custGeom>
          <a:solidFill>
            <a:srgbClr val="6B7FD7"/>
          </a:solidFill>
        </p:spPr>
      </p:sp>
      <p:sp>
        <p:nvSpPr>
          <p:cNvPr id="42" name="Text 40"/>
          <p:cNvSpPr/>
          <p:nvPr>
            <p:custDataLst>
              <p:tags r:id="rId15"/>
            </p:custDataLst>
          </p:nvPr>
        </p:nvSpPr>
        <p:spPr>
          <a:xfrm>
            <a:off x="12509500" y="4508500"/>
            <a:ext cx="2794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detector.py</a:t>
            </a:r>
            <a:endParaRPr lang="en-US" sz="1600" dirty="0"/>
          </a:p>
        </p:txBody>
      </p:sp>
      <p:sp>
        <p:nvSpPr>
          <p:cNvPr id="43" name="Text 41"/>
          <p:cNvSpPr/>
          <p:nvPr>
            <p:custDataLst>
              <p:tags r:id="rId16"/>
            </p:custDataLst>
          </p:nvPr>
        </p:nvSpPr>
        <p:spPr>
          <a:xfrm>
            <a:off x="12065000" y="4953000"/>
            <a:ext cx="31750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加载Haar模型，人脸/人眼检测，支持参数搜索</a:t>
            </a:r>
            <a:endParaRPr lang="en-US" sz="1400" dirty="0"/>
          </a:p>
        </p:txBody>
      </p:sp>
      <p:sp>
        <p:nvSpPr>
          <p:cNvPr id="44" name="Shape 42"/>
          <p:cNvSpPr/>
          <p:nvPr>
            <p:custDataLst>
              <p:tags r:id="rId17"/>
            </p:custDataLst>
          </p:nvPr>
        </p:nvSpPr>
        <p:spPr>
          <a:xfrm>
            <a:off x="762000" y="6350000"/>
            <a:ext cx="4699000" cy="1778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45" name="Shape 43"/>
          <p:cNvSpPr/>
          <p:nvPr>
            <p:custDataLst>
              <p:tags r:id="rId18"/>
            </p:custDataLst>
          </p:nvPr>
        </p:nvSpPr>
        <p:spPr>
          <a:xfrm>
            <a:off x="1016000" y="654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34518" y="22225"/>
                  <a:pt x="44450" y="32157"/>
                  <a:pt x="44450" y="44450"/>
                </a:cubicBezTo>
                <a:lnTo>
                  <a:pt x="44450" y="277813"/>
                </a:lnTo>
                <a:cubicBezTo>
                  <a:pt x="44450" y="283924"/>
                  <a:pt x="49451" y="288925"/>
                  <a:pt x="55563" y="288925"/>
                </a:cubicBezTo>
                <a:lnTo>
                  <a:pt x="333375" y="288925"/>
                </a:lnTo>
                <a:cubicBezTo>
                  <a:pt x="345668" y="288925"/>
                  <a:pt x="355600" y="298857"/>
                  <a:pt x="355600" y="311150"/>
                </a:cubicBezTo>
                <a:cubicBezTo>
                  <a:pt x="355600" y="323443"/>
                  <a:pt x="345668" y="333375"/>
                  <a:pt x="333375" y="333375"/>
                </a:cubicBezTo>
                <a:lnTo>
                  <a:pt x="55563" y="333375"/>
                </a:lnTo>
                <a:cubicBezTo>
                  <a:pt x="24864" y="333375"/>
                  <a:pt x="0" y="308511"/>
                  <a:pt x="0" y="277813"/>
                </a:cubicBezTo>
                <a:lnTo>
                  <a:pt x="0" y="44450"/>
                </a:lnTo>
                <a:cubicBezTo>
                  <a:pt x="0" y="32157"/>
                  <a:pt x="9932" y="22225"/>
                  <a:pt x="22225" y="22225"/>
                </a:cubicBezTo>
                <a:close/>
                <a:moveTo>
                  <a:pt x="88900" y="66675"/>
                </a:moveTo>
                <a:cubicBezTo>
                  <a:pt x="88900" y="54382"/>
                  <a:pt x="98832" y="44450"/>
                  <a:pt x="111125" y="44450"/>
                </a:cubicBezTo>
                <a:lnTo>
                  <a:pt x="244475" y="44450"/>
                </a:lnTo>
                <a:cubicBezTo>
                  <a:pt x="256768" y="44450"/>
                  <a:pt x="266700" y="54382"/>
                  <a:pt x="266700" y="66675"/>
                </a:cubicBezTo>
                <a:cubicBezTo>
                  <a:pt x="266700" y="78968"/>
                  <a:pt x="256768" y="88900"/>
                  <a:pt x="244475" y="88900"/>
                </a:cubicBezTo>
                <a:lnTo>
                  <a:pt x="111125" y="88900"/>
                </a:lnTo>
                <a:cubicBezTo>
                  <a:pt x="98832" y="88900"/>
                  <a:pt x="88900" y="78968"/>
                  <a:pt x="88900" y="66675"/>
                </a:cubicBezTo>
                <a:close/>
                <a:moveTo>
                  <a:pt x="111125" y="122238"/>
                </a:moveTo>
                <a:lnTo>
                  <a:pt x="200025" y="122238"/>
                </a:lnTo>
                <a:cubicBezTo>
                  <a:pt x="212318" y="122238"/>
                  <a:pt x="222250" y="132169"/>
                  <a:pt x="222250" y="144463"/>
                </a:cubicBezTo>
                <a:cubicBezTo>
                  <a:pt x="222250" y="156756"/>
                  <a:pt x="212318" y="166688"/>
                  <a:pt x="200025" y="166688"/>
                </a:cubicBezTo>
                <a:lnTo>
                  <a:pt x="111125" y="166688"/>
                </a:lnTo>
                <a:cubicBezTo>
                  <a:pt x="98832" y="166688"/>
                  <a:pt x="88900" y="156756"/>
                  <a:pt x="88900" y="144463"/>
                </a:cubicBezTo>
                <a:cubicBezTo>
                  <a:pt x="88900" y="132169"/>
                  <a:pt x="98832" y="122238"/>
                  <a:pt x="111125" y="122238"/>
                </a:cubicBezTo>
                <a:close/>
                <a:moveTo>
                  <a:pt x="111125" y="200025"/>
                </a:moveTo>
                <a:lnTo>
                  <a:pt x="288925" y="200025"/>
                </a:lnTo>
                <a:cubicBezTo>
                  <a:pt x="301218" y="200025"/>
                  <a:pt x="311150" y="209957"/>
                  <a:pt x="311150" y="222250"/>
                </a:cubicBezTo>
                <a:cubicBezTo>
                  <a:pt x="311150" y="234543"/>
                  <a:pt x="301218" y="244475"/>
                  <a:pt x="288925" y="244475"/>
                </a:cubicBezTo>
                <a:lnTo>
                  <a:pt x="111125" y="244475"/>
                </a:lnTo>
                <a:cubicBezTo>
                  <a:pt x="98832" y="244475"/>
                  <a:pt x="88900" y="234543"/>
                  <a:pt x="88900" y="222250"/>
                </a:cubicBezTo>
                <a:cubicBezTo>
                  <a:pt x="88900" y="209957"/>
                  <a:pt x="98832" y="200025"/>
                  <a:pt x="111125" y="200025"/>
                </a:cubicBezTo>
                <a:close/>
              </a:path>
            </a:pathLst>
          </a:custGeom>
          <a:solidFill>
            <a:srgbClr val="6B7FD7"/>
          </a:solidFill>
        </p:spPr>
      </p:sp>
      <p:sp>
        <p:nvSpPr>
          <p:cNvPr id="46" name="Text 44"/>
          <p:cNvSpPr/>
          <p:nvPr>
            <p:custDataLst>
              <p:tags r:id="rId19"/>
            </p:custDataLst>
          </p:nvPr>
        </p:nvSpPr>
        <p:spPr>
          <a:xfrm>
            <a:off x="1460500" y="65405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evaluator.py</a:t>
            </a:r>
            <a:endParaRPr lang="en-US" sz="1600" dirty="0"/>
          </a:p>
        </p:txBody>
      </p:sp>
      <p:sp>
        <p:nvSpPr>
          <p:cNvPr id="47" name="Text 45"/>
          <p:cNvSpPr/>
          <p:nvPr>
            <p:custDataLst>
              <p:tags r:id="rId20"/>
            </p:custDataLst>
          </p:nvPr>
        </p:nvSpPr>
        <p:spPr>
          <a:xfrm>
            <a:off x="1016000" y="6985000"/>
            <a:ext cx="41910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统计人脸数/人眼数/耗时/稳定性，输出CSV(JSON，UTF-8 BOM支持Excel</a:t>
            </a:r>
            <a:endParaRPr lang="en-US" sz="1400" dirty="0"/>
          </a:p>
        </p:txBody>
      </p:sp>
      <p:sp>
        <p:nvSpPr>
          <p:cNvPr id="48" name="Shape 46"/>
          <p:cNvSpPr/>
          <p:nvPr>
            <p:custDataLst>
              <p:tags r:id="rId21"/>
            </p:custDataLst>
          </p:nvPr>
        </p:nvSpPr>
        <p:spPr>
          <a:xfrm>
            <a:off x="5715000" y="6350000"/>
            <a:ext cx="4699000" cy="1778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49" name="Shape 47"/>
          <p:cNvSpPr/>
          <p:nvPr>
            <p:custDataLst>
              <p:tags r:id="rId22"/>
            </p:custDataLst>
          </p:nvPr>
        </p:nvSpPr>
        <p:spPr>
          <a:xfrm>
            <a:off x="5969000" y="654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96642" y="7154"/>
                </a:moveTo>
                <a:lnTo>
                  <a:pt x="159958" y="109736"/>
                </a:lnTo>
                <a:cubicBezTo>
                  <a:pt x="141993" y="123210"/>
                  <a:pt x="130572" y="145088"/>
                  <a:pt x="128720" y="168979"/>
                </a:cubicBezTo>
                <a:cubicBezTo>
                  <a:pt x="167181" y="177869"/>
                  <a:pt x="197494" y="211971"/>
                  <a:pt x="205458" y="255310"/>
                </a:cubicBezTo>
                <a:cubicBezTo>
                  <a:pt x="226757" y="253226"/>
                  <a:pt x="246142" y="240377"/>
                  <a:pt x="258119" y="220166"/>
                </a:cubicBezTo>
                <a:lnTo>
                  <a:pt x="349241" y="66328"/>
                </a:lnTo>
                <a:cubicBezTo>
                  <a:pt x="353378" y="59313"/>
                  <a:pt x="355600" y="51117"/>
                  <a:pt x="355600" y="42644"/>
                </a:cubicBezTo>
                <a:cubicBezTo>
                  <a:pt x="355600" y="19100"/>
                  <a:pt x="338623" y="0"/>
                  <a:pt x="317694" y="0"/>
                </a:cubicBezTo>
                <a:cubicBezTo>
                  <a:pt x="310224" y="0"/>
                  <a:pt x="302877" y="2500"/>
                  <a:pt x="296642" y="7154"/>
                </a:cubicBezTo>
                <a:close/>
                <a:moveTo>
                  <a:pt x="177800" y="277813"/>
                </a:moveTo>
                <a:cubicBezTo>
                  <a:pt x="177800" y="234821"/>
                  <a:pt x="146870" y="200025"/>
                  <a:pt x="108656" y="200025"/>
                </a:cubicBezTo>
                <a:cubicBezTo>
                  <a:pt x="70441" y="200025"/>
                  <a:pt x="39511" y="234821"/>
                  <a:pt x="39511" y="277813"/>
                </a:cubicBezTo>
                <a:cubicBezTo>
                  <a:pt x="39511" y="280521"/>
                  <a:pt x="39635" y="283230"/>
                  <a:pt x="39882" y="285869"/>
                </a:cubicBezTo>
                <a:cubicBezTo>
                  <a:pt x="40993" y="298023"/>
                  <a:pt x="33584" y="311150"/>
                  <a:pt x="22719" y="311150"/>
                </a:cubicBezTo>
                <a:lnTo>
                  <a:pt x="19756" y="311150"/>
                </a:lnTo>
                <a:cubicBezTo>
                  <a:pt x="8828" y="311150"/>
                  <a:pt x="0" y="321082"/>
                  <a:pt x="0" y="333375"/>
                </a:cubicBezTo>
                <a:cubicBezTo>
                  <a:pt x="0" y="345668"/>
                  <a:pt x="8828" y="355600"/>
                  <a:pt x="19756" y="355600"/>
                </a:cubicBezTo>
                <a:lnTo>
                  <a:pt x="108656" y="355600"/>
                </a:lnTo>
                <a:cubicBezTo>
                  <a:pt x="146870" y="355600"/>
                  <a:pt x="177800" y="320804"/>
                  <a:pt x="177800" y="277813"/>
                </a:cubicBezTo>
                <a:close/>
              </a:path>
            </a:pathLst>
          </a:custGeom>
          <a:solidFill>
            <a:srgbClr val="6B7FD7"/>
          </a:solidFill>
        </p:spPr>
      </p:sp>
      <p:sp>
        <p:nvSpPr>
          <p:cNvPr id="50" name="Text 48"/>
          <p:cNvSpPr/>
          <p:nvPr>
            <p:custDataLst>
              <p:tags r:id="rId23"/>
            </p:custDataLst>
          </p:nvPr>
        </p:nvSpPr>
        <p:spPr>
          <a:xfrm>
            <a:off x="6413500" y="65405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visualizer.py</a:t>
            </a:r>
            <a:endParaRPr lang="en-US" sz="1600" dirty="0"/>
          </a:p>
        </p:txBody>
      </p:sp>
      <p:sp>
        <p:nvSpPr>
          <p:cNvPr id="51" name="Text 49"/>
          <p:cNvSpPr/>
          <p:nvPr>
            <p:custDataLst>
              <p:tags r:id="rId24"/>
            </p:custDataLst>
          </p:nvPr>
        </p:nvSpPr>
        <p:spPr>
          <a:xfrm>
            <a:off x="5969000" y="6985000"/>
            <a:ext cx="4191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绿色矩形人脸/红色矩形人眼，三列拼接对比图</a:t>
            </a:r>
            <a:endParaRPr lang="en-US" sz="1400" dirty="0"/>
          </a:p>
        </p:txBody>
      </p:sp>
      <p:sp>
        <p:nvSpPr>
          <p:cNvPr id="52" name="Shape 50"/>
          <p:cNvSpPr/>
          <p:nvPr>
            <p:custDataLst>
              <p:tags r:id="rId25"/>
            </p:custDataLst>
          </p:nvPr>
        </p:nvSpPr>
        <p:spPr>
          <a:xfrm>
            <a:off x="10668000" y="6350000"/>
            <a:ext cx="4826000" cy="1778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53" name="Shape 51"/>
          <p:cNvSpPr/>
          <p:nvPr>
            <p:custDataLst>
              <p:tags r:id="rId26"/>
            </p:custDataLst>
          </p:nvPr>
        </p:nvSpPr>
        <p:spPr>
          <a:xfrm>
            <a:off x="10922000" y="654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529" y="82371"/>
                </a:moveTo>
                <a:cubicBezTo>
                  <a:pt x="-2153" y="73690"/>
                  <a:pt x="-2153" y="59591"/>
                  <a:pt x="6529" y="50909"/>
                </a:cubicBezTo>
                <a:cubicBezTo>
                  <a:pt x="15210" y="42228"/>
                  <a:pt x="29309" y="42228"/>
                  <a:pt x="37991" y="50909"/>
                </a:cubicBezTo>
                <a:lnTo>
                  <a:pt x="149116" y="162034"/>
                </a:lnTo>
                <a:cubicBezTo>
                  <a:pt x="157798" y="170716"/>
                  <a:pt x="157798" y="184815"/>
                  <a:pt x="149116" y="193496"/>
                </a:cubicBezTo>
                <a:lnTo>
                  <a:pt x="37991" y="304621"/>
                </a:lnTo>
                <a:cubicBezTo>
                  <a:pt x="29309" y="313303"/>
                  <a:pt x="15210" y="313303"/>
                  <a:pt x="6529" y="304621"/>
                </a:cubicBezTo>
                <a:cubicBezTo>
                  <a:pt x="-2153" y="295940"/>
                  <a:pt x="-2153" y="281841"/>
                  <a:pt x="6529" y="273159"/>
                </a:cubicBezTo>
                <a:lnTo>
                  <a:pt x="101888" y="177800"/>
                </a:lnTo>
                <a:lnTo>
                  <a:pt x="6529" y="82371"/>
                </a:lnTo>
                <a:close/>
                <a:moveTo>
                  <a:pt x="155575" y="266700"/>
                </a:move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55575" y="311150"/>
                </a:lnTo>
                <a:cubicBezTo>
                  <a:pt x="143282" y="311150"/>
                  <a:pt x="133350" y="301218"/>
                  <a:pt x="133350" y="288925"/>
                </a:cubicBezTo>
                <a:cubicBezTo>
                  <a:pt x="133350" y="276632"/>
                  <a:pt x="143282" y="266700"/>
                  <a:pt x="155575" y="266700"/>
                </a:cubicBezTo>
                <a:close/>
              </a:path>
            </a:pathLst>
          </a:custGeom>
          <a:solidFill>
            <a:srgbClr val="6B7FD7"/>
          </a:solidFill>
        </p:spPr>
      </p:sp>
      <p:sp>
        <p:nvSpPr>
          <p:cNvPr id="54" name="Text 52"/>
          <p:cNvSpPr/>
          <p:nvPr>
            <p:custDataLst>
              <p:tags r:id="rId27"/>
            </p:custDataLst>
          </p:nvPr>
        </p:nvSpPr>
        <p:spPr>
          <a:xfrm>
            <a:off x="11366500" y="65405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main.py</a:t>
            </a:r>
            <a:endParaRPr lang="en-US" sz="1600" dirty="0"/>
          </a:p>
        </p:txBody>
      </p:sp>
      <p:sp>
        <p:nvSpPr>
          <p:cNvPr id="55" name="Text 53"/>
          <p:cNvSpPr/>
          <p:nvPr>
            <p:custDataLst>
              <p:tags r:id="rId28"/>
            </p:custDataLst>
          </p:nvPr>
        </p:nvSpPr>
        <p:spPr>
          <a:xfrm>
            <a:off x="10922000" y="6985000"/>
            <a:ext cx="4318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命令行入口，支持--input单图和--batch批处理模式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57" name="Text 55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6B7FD7"/>
          </a:solidFill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核心模块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6350000" cy="533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核心模块详细设计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635000" cy="38100"/>
          </a:xfrm>
          <a:prstGeom prst="rect">
            <a:avLst/>
          </a:prstGeom>
          <a:solidFill>
            <a:srgbClr val="6B7FD7"/>
          </a:solidFill>
        </p:spPr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762000" y="1968500"/>
          <a:ext cx="14732000" cy="6223001"/>
        </p:xfrm>
        <a:graphic>
          <a:graphicData uri="http://schemas.openxmlformats.org/drawingml/2006/table">
            <a:tbl>
              <a:tblPr/>
              <a:tblGrid>
                <a:gridCol w="2209800"/>
                <a:gridCol w="2209800"/>
                <a:gridCol w="5156200"/>
                <a:gridCol w="5156200"/>
              </a:tblGrid>
              <a:tr h="6223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模块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F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文件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F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核心功能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F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设计特点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FD7"/>
                    </a:solidFill>
                  </a:tcPr>
                </a:tc>
              </a:tr>
              <a:tr h="80027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配置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config.py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管理预处理参数、Haar参数、分类器路径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通过cv2.data.haarcascades自动定位XML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</a:tr>
              <a:tr h="80027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图像读写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image_io.py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中文路径安全读写、保存和目录扫描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numpy.fromfile + cv2.imdecode解码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</a:tr>
              <a:tr h="80027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预处理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preprocess.py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灰度化、Gamma、均衡、卷积、滤波及组合分支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每种操作独立函数，build_variants统一生成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</a:tr>
              <a:tr h="80027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检测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detector.py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加载Haar模型、检测人脸/人眼并搜索参数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初始化检查分类器，返回框+耗时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</a:tr>
              <a:tr h="80027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评价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evaluator.py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统计数量、耗时、稳定性并输出CSV/JSON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稳定性用众数一致比例与标准差表示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</a:tr>
              <a:tr h="80027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可视化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visualizer.py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绘制检测框、生成多宫格对比图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绿框人脸/红框人眼，顶部写方法+数量+耗时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</a:tr>
              <a:tr h="79903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入口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main.py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解析参数并组织单图/批量处理流程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--input与--batch互斥，--optimize参数搜索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8280400"/>
            <a:ext cx="76200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模块化结构使每项功能可独立测试，命令行接口便于重复实验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9" name="Text 6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6B7FD7"/>
          </a:solidFill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预处理设计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6350000" cy="533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预处理多分支设计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635000" cy="381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6" name="Text 4"/>
          <p:cNvSpPr/>
          <p:nvPr/>
        </p:nvSpPr>
        <p:spPr>
          <a:xfrm>
            <a:off x="762000" y="1879600"/>
            <a:ext cx="8890000" cy="355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七个分支在相同归一化输入上比较，避免尺寸差异干扰结论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413000"/>
            <a:ext cx="7620000" cy="37465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8" name="Text 6"/>
          <p:cNvSpPr/>
          <p:nvPr/>
        </p:nvSpPr>
        <p:spPr>
          <a:xfrm>
            <a:off x="1016000" y="25400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多分支预处理代码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946400"/>
            <a:ext cx="7112000" cy="314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7FD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variants</a:t>
            </a:r>
            <a:r>
              <a:rPr lang="en-US" sz="14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= {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 </a:t>
            </a:r>
            <a:r>
              <a:rPr lang="en-US" sz="1400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"original"</a:t>
            </a:r>
            <a:r>
              <a:rPr lang="en-US" sz="14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normalized,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 </a:t>
            </a:r>
            <a:r>
              <a:rPr lang="en-US" sz="1400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"gray"</a:t>
            </a:r>
            <a:r>
              <a:rPr lang="en-US" sz="14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gray,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 </a:t>
            </a:r>
            <a:r>
              <a:rPr lang="en-US" sz="1400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"hist_eq"</a:t>
            </a:r>
            <a:r>
              <a:rPr lang="en-US" sz="14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histogram_equalize(gray),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 </a:t>
            </a:r>
            <a:r>
              <a:rPr lang="en-US" sz="1400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"clahe"</a:t>
            </a:r>
            <a:r>
              <a:rPr lang="en-US" sz="14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clahe_equalize(gray),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 </a:t>
            </a:r>
            <a:r>
              <a:rPr lang="en-US" sz="1400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"gaussian_clahe"</a:t>
            </a:r>
            <a:r>
              <a:rPr lang="en-US" sz="14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clahe_equalize(gaussian_filter(gray)),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 </a:t>
            </a:r>
            <a:r>
              <a:rPr lang="en-US" sz="1400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"median_clahe"</a:t>
            </a:r>
            <a:r>
              <a:rPr lang="en-US" sz="14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clahe_equalize(median_filter(gray)),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 </a:t>
            </a:r>
            <a:r>
              <a:rPr lang="en-US" sz="1400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"gamma_clahe"</a:t>
            </a:r>
            <a:r>
              <a:rPr lang="en-US" sz="14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clahe_equalize(gamma_correct(gray)),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763000" y="2413000"/>
            <a:ext cx="6731000" cy="3556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11" name="Text 9"/>
          <p:cNvSpPr/>
          <p:nvPr/>
        </p:nvSpPr>
        <p:spPr>
          <a:xfrm>
            <a:off x="9017000" y="25400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七个预处理分支说明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17000" y="2946400"/>
            <a:ext cx="6223000" cy="2857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5000"/>
              </a:lnSpc>
            </a:pPr>
            <a:r>
              <a:rPr lang="en-US" sz="15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original</a:t>
            </a:r>
            <a:r>
              <a:rPr lang="en-US" sz="15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　归一化原图（基线对照）</a:t>
            </a:r>
            <a:endParaRPr lang="en-US" sz="1500" dirty="0"/>
          </a:p>
          <a:p>
            <a:pPr algn="l">
              <a:lnSpc>
                <a:spcPct val="165000"/>
              </a:lnSpc>
            </a:pPr>
            <a:r>
              <a:rPr lang="en-US" sz="15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gray</a:t>
            </a:r>
            <a:r>
              <a:rPr lang="en-US" sz="15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　　灰度化（降维）</a:t>
            </a:r>
            <a:endParaRPr lang="en-US" sz="1500" dirty="0"/>
          </a:p>
          <a:p>
            <a:pPr algn="l">
              <a:lnSpc>
                <a:spcPct val="165000"/>
              </a:lnSpc>
            </a:pPr>
            <a:r>
              <a:rPr lang="en-US" sz="15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hist_eq</a:t>
            </a:r>
            <a:r>
              <a:rPr lang="en-US" sz="15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　全局直方图均衡化</a:t>
            </a:r>
            <a:endParaRPr lang="en-US" sz="1500" dirty="0"/>
          </a:p>
          <a:p>
            <a:pPr algn="l">
              <a:lnSpc>
                <a:spcPct val="165000"/>
              </a:lnSpc>
            </a:pPr>
            <a:r>
              <a:rPr lang="en-US" sz="15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clahe</a:t>
            </a:r>
            <a:r>
              <a:rPr lang="en-US" sz="15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　自适应局部均衡</a:t>
            </a:r>
            <a:endParaRPr lang="en-US" sz="1500" dirty="0"/>
          </a:p>
          <a:p>
            <a:pPr algn="l">
              <a:lnSpc>
                <a:spcPct val="165000"/>
              </a:lnSpc>
            </a:pPr>
            <a:r>
              <a:rPr lang="en-US" sz="15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gaussian_clahe</a:t>
            </a:r>
            <a:r>
              <a:rPr lang="en-US" sz="15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　高斯滤波+CLAHE</a:t>
            </a:r>
            <a:endParaRPr lang="en-US" sz="1500" dirty="0"/>
          </a:p>
          <a:p>
            <a:pPr algn="l">
              <a:lnSpc>
                <a:spcPct val="165000"/>
              </a:lnSpc>
            </a:pPr>
            <a:r>
              <a:rPr lang="en-US" sz="15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median_clahe</a:t>
            </a:r>
            <a:r>
              <a:rPr lang="en-US" sz="15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　中值滤波+CLAHE</a:t>
            </a:r>
            <a:endParaRPr lang="en-US" sz="1500" dirty="0"/>
          </a:p>
          <a:p>
            <a:pPr algn="l">
              <a:lnSpc>
                <a:spcPct val="165000"/>
              </a:lnSpc>
            </a:pPr>
            <a:r>
              <a:rPr lang="en-US" sz="15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gamma_clahe</a:t>
            </a:r>
            <a:r>
              <a:rPr lang="en-US" sz="15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　Gamma校正+CLAHE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2000" y="6223000"/>
            <a:ext cx="14732000" cy="19685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14" name="Shape 12"/>
          <p:cNvSpPr/>
          <p:nvPr/>
        </p:nvSpPr>
        <p:spPr>
          <a:xfrm>
            <a:off x="1016000" y="647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2489" y="228600"/>
                </a:moveTo>
                <a:cubicBezTo>
                  <a:pt x="238284" y="215325"/>
                  <a:pt x="249872" y="203299"/>
                  <a:pt x="262969" y="192941"/>
                </a:cubicBezTo>
                <a:cubicBezTo>
                  <a:pt x="288925" y="172462"/>
                  <a:pt x="304800" y="144780"/>
                  <a:pt x="304800" y="114300"/>
                </a:cubicBezTo>
                <a:cubicBezTo>
                  <a:pt x="304800" y="51197"/>
                  <a:pt x="236537" y="0"/>
                  <a:pt x="152400" y="0"/>
                </a:cubicBezTo>
                <a:cubicBezTo>
                  <a:pt x="68262" y="0"/>
                  <a:pt x="0" y="51197"/>
                  <a:pt x="0" y="114300"/>
                </a:cubicBezTo>
                <a:cubicBezTo>
                  <a:pt x="0" y="144780"/>
                  <a:pt x="15875" y="172462"/>
                  <a:pt x="41831" y="192941"/>
                </a:cubicBezTo>
                <a:cubicBezTo>
                  <a:pt x="54928" y="203299"/>
                  <a:pt x="66596" y="215325"/>
                  <a:pt x="72311" y="228600"/>
                </a:cubicBezTo>
                <a:lnTo>
                  <a:pt x="232410" y="228600"/>
                </a:lnTo>
                <a:close/>
                <a:moveTo>
                  <a:pt x="228600" y="257175"/>
                </a:moveTo>
                <a:lnTo>
                  <a:pt x="76200" y="257175"/>
                </a:lnTo>
                <a:lnTo>
                  <a:pt x="76200" y="266700"/>
                </a:lnTo>
                <a:cubicBezTo>
                  <a:pt x="76200" y="293013"/>
                  <a:pt x="104616" y="314325"/>
                  <a:pt x="139700" y="314325"/>
                </a:cubicBezTo>
                <a:lnTo>
                  <a:pt x="165100" y="314325"/>
                </a:lnTo>
                <a:cubicBezTo>
                  <a:pt x="200184" y="314325"/>
                  <a:pt x="228600" y="293013"/>
                  <a:pt x="228600" y="266700"/>
                </a:cubicBezTo>
                <a:lnTo>
                  <a:pt x="228600" y="257175"/>
                </a:lnTo>
                <a:close/>
                <a:moveTo>
                  <a:pt x="146050" y="66675"/>
                </a:moveTo>
                <a:cubicBezTo>
                  <a:pt x="114459" y="66675"/>
                  <a:pt x="88900" y="85844"/>
                  <a:pt x="88900" y="109537"/>
                </a:cubicBezTo>
                <a:cubicBezTo>
                  <a:pt x="88900" y="117455"/>
                  <a:pt x="80407" y="123825"/>
                  <a:pt x="69850" y="123825"/>
                </a:cubicBezTo>
                <a:cubicBezTo>
                  <a:pt x="59293" y="123825"/>
                  <a:pt x="50800" y="117455"/>
                  <a:pt x="50800" y="109537"/>
                </a:cubicBezTo>
                <a:cubicBezTo>
                  <a:pt x="50800" y="70068"/>
                  <a:pt x="93424" y="38100"/>
                  <a:pt x="146050" y="38100"/>
                </a:cubicBezTo>
                <a:cubicBezTo>
                  <a:pt x="156607" y="38100"/>
                  <a:pt x="165100" y="44470"/>
                  <a:pt x="165100" y="52388"/>
                </a:cubicBezTo>
                <a:cubicBezTo>
                  <a:pt x="165100" y="60305"/>
                  <a:pt x="156607" y="66675"/>
                  <a:pt x="146050" y="66675"/>
                </a:cubicBezTo>
                <a:close/>
              </a:path>
            </a:pathLst>
          </a:custGeom>
          <a:solidFill>
            <a:srgbClr val="A8B8E8"/>
          </a:solidFill>
        </p:spPr>
      </p:sp>
      <p:sp>
        <p:nvSpPr>
          <p:cNvPr id="15" name="Text 13"/>
          <p:cNvSpPr/>
          <p:nvPr/>
        </p:nvSpPr>
        <p:spPr>
          <a:xfrm>
            <a:off x="1422400" y="64516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设计思路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16000" y="6921500"/>
            <a:ext cx="1422400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多分支设计相当于一个小型</a:t>
            </a: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消融实验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：每个分支只改变一组处理因素，便于区分增强、滤波和亮度校正的独立影响。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等比例归一化先缩放后居中填充，缩小时采用区域插值，放大时采用三次插值，</a:t>
            </a: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减少几何失真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18" name="Text 16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8075" y="7686040"/>
            <a:ext cx="2447925" cy="14478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881989" y="770864"/>
            <a:ext cx="1091406" cy="463682"/>
          </a:xfrm>
          <a:prstGeom prst="roundRect">
            <a:avLst>
              <a:gd name="adj" fmla="val 6421"/>
            </a:avLst>
          </a:prstGeom>
          <a:solidFill>
            <a:srgbClr val="2A2C20"/>
          </a:solidFill>
        </p:spPr>
      </p:sp>
      <p:sp>
        <p:nvSpPr>
          <p:cNvPr id="3" name="Text 1"/>
          <p:cNvSpPr/>
          <p:nvPr/>
        </p:nvSpPr>
        <p:spPr>
          <a:xfrm>
            <a:off x="1030816" y="845211"/>
            <a:ext cx="1606549" cy="314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51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核心算法</a:t>
            </a:r>
            <a:endParaRPr lang="zh-CN" sz="1510" dirty="0"/>
          </a:p>
        </p:txBody>
      </p:sp>
      <p:sp>
        <p:nvSpPr>
          <p:cNvPr id="4" name="Text 2"/>
          <p:cNvSpPr/>
          <p:nvPr/>
        </p:nvSpPr>
        <p:spPr>
          <a:xfrm>
            <a:off x="881989" y="1332178"/>
            <a:ext cx="6269831" cy="620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82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核心算法一：图像预处理</a:t>
            </a:r>
            <a:endParaRPr lang="zh-CN" sz="3820" dirty="0"/>
          </a:p>
        </p:txBody>
      </p:sp>
      <p:sp>
        <p:nvSpPr>
          <p:cNvPr id="5" name="Text 3"/>
          <p:cNvSpPr/>
          <p:nvPr/>
        </p:nvSpPr>
        <p:spPr>
          <a:xfrm>
            <a:off x="881989" y="2318676"/>
            <a:ext cx="15304823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图像预处理旨在改善输入图像质量，为后续 Haar 检测提供更稳定、更准确的输入。</a:t>
            </a:r>
            <a:endParaRPr lang="zh-CN" sz="1865" dirty="0"/>
          </a:p>
        </p:txBody>
      </p:sp>
      <p:sp>
        <p:nvSpPr>
          <p:cNvPr id="6" name="Shape 4"/>
          <p:cNvSpPr/>
          <p:nvPr/>
        </p:nvSpPr>
        <p:spPr>
          <a:xfrm>
            <a:off x="881989" y="2987013"/>
            <a:ext cx="14492023" cy="5386123"/>
          </a:xfrm>
          <a:prstGeom prst="roundRect">
            <a:avLst>
              <a:gd name="adj" fmla="val 69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2043" y="2995481"/>
            <a:ext cx="4824016" cy="707760"/>
          </a:xfrm>
          <a:prstGeom prst="rect">
            <a:avLst/>
          </a:prstGeom>
          <a:solidFill>
            <a:srgbClr val="5A6ED8"/>
          </a:solidFill>
        </p:spPr>
      </p:sp>
      <p:sp>
        <p:nvSpPr>
          <p:cNvPr id="8" name="Text 6"/>
          <p:cNvSpPr/>
          <p:nvPr/>
        </p:nvSpPr>
        <p:spPr>
          <a:xfrm>
            <a:off x="1140089" y="3150393"/>
            <a:ext cx="5136489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算法名称</a:t>
            </a:r>
            <a:endParaRPr lang="zh-CN" sz="1865" dirty="0"/>
          </a:p>
        </p:txBody>
      </p:sp>
      <p:sp>
        <p:nvSpPr>
          <p:cNvPr id="9" name="Shape 7"/>
          <p:cNvSpPr/>
          <p:nvPr/>
        </p:nvSpPr>
        <p:spPr>
          <a:xfrm>
            <a:off x="5716059" y="2995481"/>
            <a:ext cx="4824016" cy="707760"/>
          </a:xfrm>
          <a:prstGeom prst="rect">
            <a:avLst/>
          </a:prstGeom>
          <a:solidFill>
            <a:srgbClr val="5A6ED8"/>
          </a:solidFill>
        </p:spPr>
      </p:sp>
      <p:sp>
        <p:nvSpPr>
          <p:cNvPr id="10" name="Text 8"/>
          <p:cNvSpPr/>
          <p:nvPr/>
        </p:nvSpPr>
        <p:spPr>
          <a:xfrm>
            <a:off x="5968338" y="3150393"/>
            <a:ext cx="5132256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作用</a:t>
            </a:r>
            <a:endParaRPr lang="zh-CN" sz="1865" dirty="0"/>
          </a:p>
        </p:txBody>
      </p:sp>
      <p:sp>
        <p:nvSpPr>
          <p:cNvPr id="11" name="Shape 9"/>
          <p:cNvSpPr/>
          <p:nvPr/>
        </p:nvSpPr>
        <p:spPr>
          <a:xfrm>
            <a:off x="10540075" y="2995481"/>
            <a:ext cx="4824016" cy="707760"/>
          </a:xfrm>
          <a:prstGeom prst="rect">
            <a:avLst/>
          </a:prstGeom>
          <a:solidFill>
            <a:srgbClr val="5A6ED8"/>
          </a:solidFill>
        </p:spPr>
      </p:sp>
      <p:sp>
        <p:nvSpPr>
          <p:cNvPr id="12" name="Text 10"/>
          <p:cNvSpPr/>
          <p:nvPr/>
        </p:nvSpPr>
        <p:spPr>
          <a:xfrm>
            <a:off x="10792354" y="3150393"/>
            <a:ext cx="5136489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适用场景</a:t>
            </a:r>
            <a:endParaRPr lang="zh-CN" sz="1865" dirty="0"/>
          </a:p>
        </p:txBody>
      </p:sp>
      <p:sp>
        <p:nvSpPr>
          <p:cNvPr id="13" name="Text 11"/>
          <p:cNvSpPr/>
          <p:nvPr/>
        </p:nvSpPr>
        <p:spPr>
          <a:xfrm>
            <a:off x="1140089" y="3862388"/>
            <a:ext cx="5136489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灰度化</a:t>
            </a:r>
            <a:endParaRPr lang="zh-CN" sz="1865" dirty="0"/>
          </a:p>
        </p:txBody>
      </p:sp>
      <p:sp>
        <p:nvSpPr>
          <p:cNvPr id="14" name="Text 12"/>
          <p:cNvSpPr/>
          <p:nvPr/>
        </p:nvSpPr>
        <p:spPr>
          <a:xfrm>
            <a:off x="5968338" y="3862388"/>
            <a:ext cx="4319456" cy="78740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将彩色图像转换为灰度图，降低计算复杂度。</a:t>
            </a:r>
            <a:endParaRPr lang="zh-CN" sz="1865" dirty="0"/>
          </a:p>
        </p:txBody>
      </p:sp>
      <p:sp>
        <p:nvSpPr>
          <p:cNvPr id="15" name="Text 13"/>
          <p:cNvSpPr/>
          <p:nvPr/>
        </p:nvSpPr>
        <p:spPr>
          <a:xfrm>
            <a:off x="10792354" y="3862388"/>
            <a:ext cx="5136489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所有彩色图像处理前</a:t>
            </a:r>
            <a:endParaRPr lang="zh-CN" sz="1865" dirty="0"/>
          </a:p>
        </p:txBody>
      </p:sp>
      <p:sp>
        <p:nvSpPr>
          <p:cNvPr id="16" name="Text 14"/>
          <p:cNvSpPr/>
          <p:nvPr/>
        </p:nvSpPr>
        <p:spPr>
          <a:xfrm>
            <a:off x="1140089" y="4968082"/>
            <a:ext cx="5136489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直方图均衡化</a:t>
            </a:r>
            <a:endParaRPr lang="zh-CN" sz="1865" dirty="0"/>
          </a:p>
        </p:txBody>
      </p:sp>
      <p:sp>
        <p:nvSpPr>
          <p:cNvPr id="17" name="Text 15"/>
          <p:cNvSpPr/>
          <p:nvPr/>
        </p:nvSpPr>
        <p:spPr>
          <a:xfrm>
            <a:off x="5968338" y="4968082"/>
            <a:ext cx="5132256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增强图像整体对比度。</a:t>
            </a:r>
            <a:endParaRPr lang="zh-CN" sz="1865" dirty="0"/>
          </a:p>
        </p:txBody>
      </p:sp>
      <p:sp>
        <p:nvSpPr>
          <p:cNvPr id="18" name="Text 16"/>
          <p:cNvSpPr/>
          <p:nvPr/>
        </p:nvSpPr>
        <p:spPr>
          <a:xfrm>
            <a:off x="10792354" y="4968082"/>
            <a:ext cx="5136489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图像对比度不足</a:t>
            </a:r>
            <a:endParaRPr lang="zh-CN" sz="1865" dirty="0"/>
          </a:p>
        </p:txBody>
      </p:sp>
      <p:sp>
        <p:nvSpPr>
          <p:cNvPr id="19" name="Text 17"/>
          <p:cNvSpPr/>
          <p:nvPr/>
        </p:nvSpPr>
        <p:spPr>
          <a:xfrm>
            <a:off x="1140089" y="5680075"/>
            <a:ext cx="5136489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65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CLAHE</a:t>
            </a:r>
            <a:endParaRPr lang="en-US" sz="1865" dirty="0"/>
          </a:p>
        </p:txBody>
      </p:sp>
      <p:sp>
        <p:nvSpPr>
          <p:cNvPr id="20" name="Text 18"/>
          <p:cNvSpPr/>
          <p:nvPr/>
        </p:nvSpPr>
        <p:spPr>
          <a:xfrm>
            <a:off x="5968338" y="5680075"/>
            <a:ext cx="5132256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限制局部对比度增强，适合弱光图像。</a:t>
            </a:r>
            <a:endParaRPr lang="zh-CN" sz="1865" dirty="0"/>
          </a:p>
        </p:txBody>
      </p:sp>
      <p:sp>
        <p:nvSpPr>
          <p:cNvPr id="21" name="Text 19"/>
          <p:cNvSpPr/>
          <p:nvPr/>
        </p:nvSpPr>
        <p:spPr>
          <a:xfrm>
            <a:off x="10792354" y="5680075"/>
            <a:ext cx="5136489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弱光、高动态范围图像</a:t>
            </a:r>
            <a:endParaRPr lang="zh-CN" sz="1865" dirty="0"/>
          </a:p>
        </p:txBody>
      </p:sp>
      <p:sp>
        <p:nvSpPr>
          <p:cNvPr id="22" name="Text 20"/>
          <p:cNvSpPr/>
          <p:nvPr/>
        </p:nvSpPr>
        <p:spPr>
          <a:xfrm>
            <a:off x="1140089" y="6392069"/>
            <a:ext cx="5136489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Gamma 校正</a:t>
            </a:r>
            <a:endParaRPr lang="zh-CN" sz="1865" dirty="0"/>
          </a:p>
        </p:txBody>
      </p:sp>
      <p:sp>
        <p:nvSpPr>
          <p:cNvPr id="23" name="Text 21"/>
          <p:cNvSpPr/>
          <p:nvPr/>
        </p:nvSpPr>
        <p:spPr>
          <a:xfrm>
            <a:off x="5968338" y="6392069"/>
            <a:ext cx="5132256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改善过暗或过亮图像的亮度分布。</a:t>
            </a:r>
            <a:endParaRPr lang="zh-CN" sz="1865" dirty="0"/>
          </a:p>
        </p:txBody>
      </p:sp>
      <p:sp>
        <p:nvSpPr>
          <p:cNvPr id="24" name="Text 22"/>
          <p:cNvSpPr/>
          <p:nvPr/>
        </p:nvSpPr>
        <p:spPr>
          <a:xfrm>
            <a:off x="10792354" y="6392069"/>
            <a:ext cx="5136489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亮度不均匀图像</a:t>
            </a:r>
            <a:endParaRPr lang="zh-CN" sz="1865" dirty="0"/>
          </a:p>
        </p:txBody>
      </p:sp>
      <p:sp>
        <p:nvSpPr>
          <p:cNvPr id="25" name="Text 23"/>
          <p:cNvSpPr/>
          <p:nvPr/>
        </p:nvSpPr>
        <p:spPr>
          <a:xfrm>
            <a:off x="1140089" y="7104062"/>
            <a:ext cx="5136489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高斯滤波</a:t>
            </a:r>
            <a:endParaRPr lang="zh-CN" sz="1865" dirty="0"/>
          </a:p>
        </p:txBody>
      </p:sp>
      <p:sp>
        <p:nvSpPr>
          <p:cNvPr id="26" name="Text 24"/>
          <p:cNvSpPr/>
          <p:nvPr/>
        </p:nvSpPr>
        <p:spPr>
          <a:xfrm>
            <a:off x="5968338" y="7104062"/>
            <a:ext cx="5132256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平滑图像，有效抑制高斯噪声。</a:t>
            </a:r>
            <a:endParaRPr lang="zh-CN" sz="1865" dirty="0"/>
          </a:p>
        </p:txBody>
      </p:sp>
      <p:sp>
        <p:nvSpPr>
          <p:cNvPr id="27" name="Text 25"/>
          <p:cNvSpPr/>
          <p:nvPr/>
        </p:nvSpPr>
        <p:spPr>
          <a:xfrm>
            <a:off x="10792354" y="7104062"/>
            <a:ext cx="5136489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高斯噪声图像</a:t>
            </a:r>
            <a:endParaRPr lang="zh-CN" sz="1865" dirty="0"/>
          </a:p>
        </p:txBody>
      </p:sp>
      <p:sp>
        <p:nvSpPr>
          <p:cNvPr id="28" name="Text 26"/>
          <p:cNvSpPr/>
          <p:nvPr/>
        </p:nvSpPr>
        <p:spPr>
          <a:xfrm>
            <a:off x="1140089" y="7816057"/>
            <a:ext cx="5136489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中值滤波</a:t>
            </a:r>
            <a:endParaRPr lang="zh-CN" sz="1865" dirty="0"/>
          </a:p>
        </p:txBody>
      </p:sp>
      <p:sp>
        <p:nvSpPr>
          <p:cNvPr id="29" name="Text 27"/>
          <p:cNvSpPr/>
          <p:nvPr/>
        </p:nvSpPr>
        <p:spPr>
          <a:xfrm>
            <a:off x="5968338" y="7816057"/>
            <a:ext cx="5132256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对椒盐噪声有较好抑制效果。</a:t>
            </a:r>
            <a:endParaRPr lang="zh-CN" sz="1865" dirty="0"/>
          </a:p>
        </p:txBody>
      </p:sp>
      <p:sp>
        <p:nvSpPr>
          <p:cNvPr id="30" name="Text 28"/>
          <p:cNvSpPr/>
          <p:nvPr/>
        </p:nvSpPr>
        <p:spPr>
          <a:xfrm>
            <a:off x="10792354" y="7816057"/>
            <a:ext cx="5136489" cy="393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865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椒盐噪声图像</a:t>
            </a:r>
            <a:endParaRPr lang="zh-CN" sz="186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6B7FD7"/>
          </a:solidFill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检测实现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7620000" cy="533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人脸与人眼检测实现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635000" cy="381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6" name="Shape 4"/>
          <p:cNvSpPr/>
          <p:nvPr/>
        </p:nvSpPr>
        <p:spPr>
          <a:xfrm>
            <a:off x="762000" y="1968500"/>
            <a:ext cx="8128000" cy="4191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7" name="Text 5"/>
          <p:cNvSpPr/>
          <p:nvPr/>
        </p:nvSpPr>
        <p:spPr>
          <a:xfrm>
            <a:off x="1016000" y="20955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核心检测代码（代码 3-5）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514600"/>
            <a:ext cx="7620000" cy="355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6B7FD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faces</a:t>
            </a:r>
            <a:r>
              <a:rPr lang="en-US" sz="13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= face_cascade.detectMultiScale(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 gray, scaleFactor=scale_factor,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 minNeighbors=min_neighbors,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 minSize=min_size)</a:t>
            </a:r>
            <a:endParaRPr lang="en-US" sz="13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3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# 在人脸上部65% ROI内检测人眼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6B7FD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roi</a:t>
            </a:r>
            <a:r>
              <a:rPr lang="en-US" sz="13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= gray[y:y + int(h * 0.65), x:x + w]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6B7FD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eyes</a:t>
            </a:r>
            <a:r>
              <a:rPr lang="en-US" sz="13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= eye_cascade.detectMultiScale(roi, ...)</a:t>
            </a:r>
            <a:endParaRPr lang="en-US" sz="13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3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# 按面积排序，每张脸最多保留两个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6B7FD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candidates</a:t>
            </a:r>
            <a:r>
              <a:rPr lang="en-US" sz="13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= sorted(eyes,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 key=lambda b: b[2]*b[3], reverse=True)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eye_boxes.extend(candidates[:2])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271000" y="1968500"/>
            <a:ext cx="6223000" cy="4191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10" name="Text 8"/>
          <p:cNvSpPr/>
          <p:nvPr/>
        </p:nvSpPr>
        <p:spPr>
          <a:xfrm>
            <a:off x="9525000" y="20955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检测策略要点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25000" y="2514600"/>
            <a:ext cx="5715000" cy="361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1. 人脸检测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整幅灰度图 detectMultiScale 寻正面人脸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2. ROI限制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人脸上部65%区域搜眼，降低搜索成本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3. 候选筛选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按面积降序，最多保留两个大候选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4. 坐标转换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眼睛坐标由ROI局部换算为整图坐标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159500"/>
            <a:ext cx="14732000" cy="2032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13" name="Text 11"/>
          <p:cNvSpPr/>
          <p:nvPr/>
        </p:nvSpPr>
        <p:spPr>
          <a:xfrm>
            <a:off x="1016000" y="62865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检测流程图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70000" y="6858000"/>
            <a:ext cx="1778000" cy="571500"/>
          </a:xfrm>
          <a:prstGeom prst="roundRect">
            <a:avLst>
              <a:gd name="adj" fmla="val 10000"/>
            </a:avLst>
          </a:prstGeom>
          <a:solidFill>
            <a:srgbClr val="6B7FD7"/>
          </a:solidFill>
        </p:spPr>
      </p:sp>
      <p:sp>
        <p:nvSpPr>
          <p:cNvPr id="15" name="Text 13"/>
          <p:cNvSpPr/>
          <p:nvPr/>
        </p:nvSpPr>
        <p:spPr>
          <a:xfrm>
            <a:off x="1270000" y="6858000"/>
            <a:ext cx="1778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灰度图像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11500" y="7112000"/>
            <a:ext cx="381000" cy="0"/>
          </a:xfrm>
          <a:prstGeom prst="straightConnector1">
            <a:avLst/>
          </a:prstGeom>
          <a:noFill/>
          <a:ln w="25400">
            <a:solidFill>
              <a:srgbClr val="8B95A5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3556000" y="6858000"/>
            <a:ext cx="2032000" cy="571500"/>
          </a:xfrm>
          <a:prstGeom prst="roundRect">
            <a:avLst>
              <a:gd name="adj" fmla="val 10000"/>
            </a:avLst>
          </a:prstGeom>
          <a:solidFill>
            <a:srgbClr val="6B7FD7"/>
          </a:solidFill>
        </p:spPr>
      </p:sp>
      <p:sp>
        <p:nvSpPr>
          <p:cNvPr id="18" name="Text 16"/>
          <p:cNvSpPr/>
          <p:nvPr/>
        </p:nvSpPr>
        <p:spPr>
          <a:xfrm>
            <a:off x="3556000" y="6858000"/>
            <a:ext cx="2032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detectMultiScale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51500" y="7112000"/>
            <a:ext cx="381000" cy="0"/>
          </a:xfrm>
          <a:prstGeom prst="straightConnector1">
            <a:avLst/>
          </a:prstGeom>
          <a:noFill/>
          <a:ln w="25400">
            <a:solidFill>
              <a:srgbClr val="8B95A5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6096000" y="6858000"/>
            <a:ext cx="1778000" cy="571500"/>
          </a:xfrm>
          <a:prstGeom prst="roundRect">
            <a:avLst>
              <a:gd name="adj" fmla="val 10000"/>
            </a:avLst>
          </a:prstGeom>
          <a:solidFill>
            <a:srgbClr val="6B7FD7"/>
          </a:solidFill>
        </p:spPr>
      </p:sp>
      <p:sp>
        <p:nvSpPr>
          <p:cNvPr id="21" name="Text 19"/>
          <p:cNvSpPr/>
          <p:nvPr/>
        </p:nvSpPr>
        <p:spPr>
          <a:xfrm>
            <a:off x="6096000" y="6858000"/>
            <a:ext cx="1778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截取人脸ROI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37500" y="7112000"/>
            <a:ext cx="381000" cy="0"/>
          </a:xfrm>
          <a:prstGeom prst="straightConnector1">
            <a:avLst/>
          </a:prstGeom>
          <a:noFill/>
          <a:ln w="25400">
            <a:solidFill>
              <a:srgbClr val="8B95A5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8382000" y="6858000"/>
            <a:ext cx="2032000" cy="571500"/>
          </a:xfrm>
          <a:prstGeom prst="roundRect">
            <a:avLst>
              <a:gd name="adj" fmla="val 10000"/>
            </a:avLst>
          </a:prstGeom>
          <a:solidFill>
            <a:srgbClr val="6B7FD7"/>
          </a:solidFill>
        </p:spPr>
      </p:sp>
      <p:sp>
        <p:nvSpPr>
          <p:cNvPr id="24" name="Text 22"/>
          <p:cNvSpPr/>
          <p:nvPr/>
        </p:nvSpPr>
        <p:spPr>
          <a:xfrm>
            <a:off x="8382000" y="6858000"/>
            <a:ext cx="2032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上部65%检眼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477500" y="7112000"/>
            <a:ext cx="381000" cy="0"/>
          </a:xfrm>
          <a:prstGeom prst="straightConnector1">
            <a:avLst/>
          </a:prstGeom>
          <a:noFill/>
          <a:ln w="25400">
            <a:solidFill>
              <a:srgbClr val="8B95A5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0922000" y="6858000"/>
            <a:ext cx="1778000" cy="571500"/>
          </a:xfrm>
          <a:prstGeom prst="roundRect">
            <a:avLst>
              <a:gd name="adj" fmla="val 10000"/>
            </a:avLst>
          </a:prstGeom>
          <a:solidFill>
            <a:srgbClr val="6B7FD7"/>
          </a:solidFill>
        </p:spPr>
      </p:sp>
      <p:sp>
        <p:nvSpPr>
          <p:cNvPr id="27" name="Text 25"/>
          <p:cNvSpPr/>
          <p:nvPr/>
        </p:nvSpPr>
        <p:spPr>
          <a:xfrm>
            <a:off x="10922000" y="6858000"/>
            <a:ext cx="1778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排序取前2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2763500" y="7112000"/>
            <a:ext cx="381000" cy="0"/>
          </a:xfrm>
          <a:prstGeom prst="straightConnector1">
            <a:avLst/>
          </a:prstGeom>
          <a:noFill/>
          <a:ln w="25400">
            <a:solidFill>
              <a:srgbClr val="8B95A5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3208000" y="6858000"/>
            <a:ext cx="1778000" cy="571500"/>
          </a:xfrm>
          <a:prstGeom prst="roundRect">
            <a:avLst>
              <a:gd name="adj" fmla="val 10000"/>
            </a:avLst>
          </a:prstGeom>
          <a:solidFill>
            <a:srgbClr val="4A5FBF"/>
          </a:solidFill>
        </p:spPr>
      </p:sp>
      <p:sp>
        <p:nvSpPr>
          <p:cNvPr id="30" name="Text 28"/>
          <p:cNvSpPr/>
          <p:nvPr/>
        </p:nvSpPr>
        <p:spPr>
          <a:xfrm>
            <a:off x="13208000" y="6858000"/>
            <a:ext cx="1778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坐标转换输出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32" name="Text 30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8075" y="7696200"/>
            <a:ext cx="2447925" cy="14478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881989" y="693076"/>
            <a:ext cx="553906" cy="196320"/>
          </a:xfrm>
          <a:prstGeom prst="roundRect">
            <a:avLst>
              <a:gd name="adj" fmla="val 7703"/>
            </a:avLst>
          </a:prstGeom>
          <a:solidFill>
            <a:srgbClr val="2A2C20"/>
          </a:solidFill>
        </p:spPr>
      </p:sp>
      <p:sp>
        <p:nvSpPr>
          <p:cNvPr id="3" name="Text 1"/>
          <p:cNvSpPr/>
          <p:nvPr/>
        </p:nvSpPr>
        <p:spPr>
          <a:xfrm>
            <a:off x="880533" y="730391"/>
            <a:ext cx="1292578" cy="3510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49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核心算法</a:t>
            </a:r>
            <a:endParaRPr lang="zh-CN" sz="2490" dirty="0"/>
          </a:p>
        </p:txBody>
      </p:sp>
      <p:sp>
        <p:nvSpPr>
          <p:cNvPr id="4" name="Text 2"/>
          <p:cNvSpPr/>
          <p:nvPr/>
        </p:nvSpPr>
        <p:spPr>
          <a:xfrm>
            <a:off x="881989" y="1218203"/>
            <a:ext cx="4730617" cy="314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49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核心算法二：Haar 人脸与人眼检测</a:t>
            </a:r>
            <a:endParaRPr lang="zh-CN" sz="2490" dirty="0"/>
          </a:p>
        </p:txBody>
      </p:sp>
      <p:sp>
        <p:nvSpPr>
          <p:cNvPr id="5" name="Text 3"/>
          <p:cNvSpPr/>
          <p:nvPr/>
        </p:nvSpPr>
        <p:spPr>
          <a:xfrm>
            <a:off x="881662" y="3262489"/>
            <a:ext cx="2387600" cy="4041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155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检测流程</a:t>
            </a:r>
            <a:endParaRPr lang="zh-CN" sz="1155" dirty="0"/>
          </a:p>
        </p:txBody>
      </p:sp>
      <p:sp>
        <p:nvSpPr>
          <p:cNvPr id="6" name="Text 4"/>
          <p:cNvSpPr/>
          <p:nvPr/>
        </p:nvSpPr>
        <p:spPr>
          <a:xfrm>
            <a:off x="881989" y="3738299"/>
            <a:ext cx="252016" cy="15742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81989" y="3935413"/>
            <a:ext cx="4872302" cy="16933"/>
          </a:xfrm>
          <a:prstGeom prst="rect">
            <a:avLst/>
          </a:prstGeom>
          <a:solidFill>
            <a:srgbClr val="9FA582"/>
          </a:solidFill>
        </p:spPr>
      </p:sp>
      <p:sp>
        <p:nvSpPr>
          <p:cNvPr id="8" name="Text 6"/>
          <p:cNvSpPr/>
          <p:nvPr/>
        </p:nvSpPr>
        <p:spPr>
          <a:xfrm>
            <a:off x="881989" y="4032251"/>
            <a:ext cx="4872302" cy="1512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78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图像转换为灰度图</a:t>
            </a:r>
            <a:endParaRPr lang="zh-CN" sz="1780" dirty="0"/>
          </a:p>
        </p:txBody>
      </p:sp>
      <p:sp>
        <p:nvSpPr>
          <p:cNvPr id="9" name="Text 7"/>
          <p:cNvSpPr/>
          <p:nvPr/>
        </p:nvSpPr>
        <p:spPr>
          <a:xfrm>
            <a:off x="881989" y="4340887"/>
            <a:ext cx="252016" cy="15742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81989" y="4538002"/>
            <a:ext cx="4872302" cy="16933"/>
          </a:xfrm>
          <a:prstGeom prst="rect">
            <a:avLst/>
          </a:prstGeom>
          <a:solidFill>
            <a:srgbClr val="9FA582"/>
          </a:solidFill>
        </p:spPr>
      </p:sp>
      <p:sp>
        <p:nvSpPr>
          <p:cNvPr id="11" name="Text 9"/>
          <p:cNvSpPr/>
          <p:nvPr/>
        </p:nvSpPr>
        <p:spPr>
          <a:xfrm>
            <a:off x="881989" y="4634839"/>
            <a:ext cx="4872302" cy="1596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78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使用 </a:t>
            </a:r>
            <a:r>
              <a:rPr lang="zh-CN" altLang="en-US" sz="1780" dirty="0">
                <a:solidFill>
                  <a:srgbClr val="C2C4B5"/>
                </a:solidFill>
                <a:highlight>
                  <a:srgbClr val="292A2C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detectMultiScale</a:t>
            </a:r>
            <a:r>
              <a:rPr lang="zh-CN" altLang="en-US" sz="178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检测正面人脸</a:t>
            </a:r>
            <a:endParaRPr lang="zh-CN" sz="1780" dirty="0"/>
          </a:p>
        </p:txBody>
      </p:sp>
      <p:sp>
        <p:nvSpPr>
          <p:cNvPr id="12" name="Text 10"/>
          <p:cNvSpPr/>
          <p:nvPr/>
        </p:nvSpPr>
        <p:spPr>
          <a:xfrm>
            <a:off x="881989" y="4951941"/>
            <a:ext cx="252016" cy="15742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1989" y="5149056"/>
            <a:ext cx="4872302" cy="16933"/>
          </a:xfrm>
          <a:prstGeom prst="rect">
            <a:avLst/>
          </a:prstGeom>
          <a:solidFill>
            <a:srgbClr val="9FA582"/>
          </a:solidFill>
        </p:spPr>
      </p:sp>
      <p:sp>
        <p:nvSpPr>
          <p:cNvPr id="14" name="Text 12"/>
          <p:cNvSpPr/>
          <p:nvPr/>
        </p:nvSpPr>
        <p:spPr>
          <a:xfrm>
            <a:off x="881989" y="5245893"/>
            <a:ext cx="4872302" cy="1512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78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截取人脸区域 ROI</a:t>
            </a:r>
            <a:endParaRPr lang="zh-CN" sz="1780" dirty="0"/>
          </a:p>
        </p:txBody>
      </p:sp>
      <p:sp>
        <p:nvSpPr>
          <p:cNvPr id="15" name="Text 13"/>
          <p:cNvSpPr/>
          <p:nvPr/>
        </p:nvSpPr>
        <p:spPr>
          <a:xfrm>
            <a:off x="881989" y="5554530"/>
            <a:ext cx="252016" cy="15742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1989" y="5751644"/>
            <a:ext cx="4872302" cy="16933"/>
          </a:xfrm>
          <a:prstGeom prst="rect">
            <a:avLst/>
          </a:prstGeom>
          <a:solidFill>
            <a:srgbClr val="9FA582"/>
          </a:solidFill>
        </p:spPr>
      </p:sp>
      <p:sp>
        <p:nvSpPr>
          <p:cNvPr id="17" name="Text 15"/>
          <p:cNvSpPr/>
          <p:nvPr/>
        </p:nvSpPr>
        <p:spPr>
          <a:xfrm>
            <a:off x="881989" y="5848482"/>
            <a:ext cx="4872302" cy="1512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78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在人脸上半部分 ROI 内检测人眼</a:t>
            </a:r>
            <a:endParaRPr lang="zh-CN" sz="1780" dirty="0"/>
          </a:p>
        </p:txBody>
      </p:sp>
      <p:sp>
        <p:nvSpPr>
          <p:cNvPr id="18" name="Text 16"/>
          <p:cNvSpPr/>
          <p:nvPr/>
        </p:nvSpPr>
        <p:spPr>
          <a:xfrm>
            <a:off x="881989" y="6157118"/>
            <a:ext cx="252016" cy="15742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1989" y="6354233"/>
            <a:ext cx="4872302" cy="16933"/>
          </a:xfrm>
          <a:prstGeom prst="rect">
            <a:avLst/>
          </a:prstGeom>
          <a:solidFill>
            <a:srgbClr val="9FA582"/>
          </a:solidFill>
        </p:spPr>
      </p:sp>
      <p:sp>
        <p:nvSpPr>
          <p:cNvPr id="20" name="Text 18"/>
          <p:cNvSpPr/>
          <p:nvPr/>
        </p:nvSpPr>
        <p:spPr>
          <a:xfrm>
            <a:off x="881989" y="6451070"/>
            <a:ext cx="4872302" cy="1512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78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绘制人脸框和人眼框</a:t>
            </a:r>
            <a:endParaRPr lang="zh-CN" sz="1780" dirty="0"/>
          </a:p>
        </p:txBody>
      </p:sp>
      <p:sp>
        <p:nvSpPr>
          <p:cNvPr id="21" name="Text 19"/>
          <p:cNvSpPr/>
          <p:nvPr/>
        </p:nvSpPr>
        <p:spPr>
          <a:xfrm>
            <a:off x="882932" y="7284579"/>
            <a:ext cx="4730044" cy="6378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本项目使用 OpenCV 提供的 </a:t>
            </a:r>
            <a:r>
              <a:rPr lang="zh-CN" altLang="en-US" sz="16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Haar cascade XML 分类器</a:t>
            </a:r>
            <a:r>
              <a:rPr lang="zh-CN" alt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，</a:t>
            </a:r>
            <a:endParaRPr lang="zh-CN" altLang="en-US" sz="1600" dirty="0">
              <a:solidFill>
                <a:srgbClr val="C2C4B5"/>
              </a:solidFill>
              <a:latin typeface="Bitter" pitchFamily="34" charset="0"/>
              <a:ea typeface="Bitter" pitchFamily="34" charset="-122"/>
              <a:cs typeface="Bitter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而非从零训练。</a:t>
            </a:r>
            <a:endParaRPr lang="zh-CN" sz="1600" dirty="0"/>
          </a:p>
        </p:txBody>
      </p:sp>
      <p:sp>
        <p:nvSpPr>
          <p:cNvPr id="22" name="Text 20"/>
          <p:cNvSpPr/>
          <p:nvPr/>
        </p:nvSpPr>
        <p:spPr>
          <a:xfrm>
            <a:off x="6070036" y="317006"/>
            <a:ext cx="2387600" cy="3759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135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参数说明</a:t>
            </a:r>
            <a:endParaRPr lang="zh-CN" sz="2135" dirty="0"/>
          </a:p>
        </p:txBody>
      </p:sp>
      <p:sp>
        <p:nvSpPr>
          <p:cNvPr id="23" name="Shape 21"/>
          <p:cNvSpPr/>
          <p:nvPr/>
        </p:nvSpPr>
        <p:spPr>
          <a:xfrm>
            <a:off x="6061313" y="825262"/>
            <a:ext cx="9312142" cy="1016530"/>
          </a:xfrm>
          <a:prstGeom prst="roundRect">
            <a:avLst>
              <a:gd name="adj" fmla="val 186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69912" y="692617"/>
            <a:ext cx="4647538" cy="247783"/>
          </a:xfrm>
          <a:prstGeom prst="rect">
            <a:avLst/>
          </a:prstGeom>
          <a:solidFill>
            <a:srgbClr val="5A6ED8"/>
          </a:solidFill>
        </p:spPr>
      </p:sp>
      <p:sp>
        <p:nvSpPr>
          <p:cNvPr id="25" name="Text 23"/>
          <p:cNvSpPr/>
          <p:nvPr/>
        </p:nvSpPr>
        <p:spPr>
          <a:xfrm>
            <a:off x="6195483" y="703721"/>
            <a:ext cx="5208693" cy="2043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参数</a:t>
            </a:r>
            <a:endParaRPr lang="zh-CN" sz="1600" dirty="0"/>
          </a:p>
        </p:txBody>
      </p:sp>
      <p:sp>
        <p:nvSpPr>
          <p:cNvPr id="26" name="Shape 24"/>
          <p:cNvSpPr/>
          <p:nvPr/>
        </p:nvSpPr>
        <p:spPr>
          <a:xfrm>
            <a:off x="10717451" y="692617"/>
            <a:ext cx="4647538" cy="247783"/>
          </a:xfrm>
          <a:prstGeom prst="rect">
            <a:avLst/>
          </a:prstGeom>
          <a:solidFill>
            <a:srgbClr val="5A6ED8"/>
          </a:solidFill>
        </p:spPr>
      </p:sp>
      <p:sp>
        <p:nvSpPr>
          <p:cNvPr id="27" name="Text 25"/>
          <p:cNvSpPr/>
          <p:nvPr/>
        </p:nvSpPr>
        <p:spPr>
          <a:xfrm>
            <a:off x="10717389" y="707672"/>
            <a:ext cx="5208693" cy="2043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78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描述</a:t>
            </a:r>
            <a:endParaRPr lang="zh-CN" sz="1780" dirty="0"/>
          </a:p>
        </p:txBody>
      </p:sp>
      <p:sp>
        <p:nvSpPr>
          <p:cNvPr id="28" name="Text 26"/>
          <p:cNvSpPr/>
          <p:nvPr/>
        </p:nvSpPr>
        <p:spPr>
          <a:xfrm>
            <a:off x="6195853" y="1003008"/>
            <a:ext cx="5208455" cy="1512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scaleFactor</a:t>
            </a:r>
            <a:endParaRPr lang="en-US" sz="1420" dirty="0"/>
          </a:p>
        </p:txBody>
      </p:sp>
      <p:sp>
        <p:nvSpPr>
          <p:cNvPr id="29" name="Text 27"/>
          <p:cNvSpPr/>
          <p:nvPr/>
        </p:nvSpPr>
        <p:spPr>
          <a:xfrm>
            <a:off x="10717663" y="1003008"/>
            <a:ext cx="5208455" cy="1512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42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图像金字塔缩放比例，每次图像尺寸缩小倍数。</a:t>
            </a:r>
            <a:endParaRPr lang="zh-CN" sz="1420" dirty="0"/>
          </a:p>
        </p:txBody>
      </p:sp>
      <p:sp>
        <p:nvSpPr>
          <p:cNvPr id="30" name="Text 28"/>
          <p:cNvSpPr/>
          <p:nvPr/>
        </p:nvSpPr>
        <p:spPr>
          <a:xfrm>
            <a:off x="6195853" y="1280424"/>
            <a:ext cx="5208455" cy="1512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minNeighbors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718298" y="1281059"/>
            <a:ext cx="5208455" cy="1512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42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候选矩形框合并的最小邻居数，影响检测的严格性。</a:t>
            </a:r>
            <a:endParaRPr lang="zh-CN" sz="1420" dirty="0"/>
          </a:p>
        </p:txBody>
      </p:sp>
      <p:sp>
        <p:nvSpPr>
          <p:cNvPr id="32" name="Text 30"/>
          <p:cNvSpPr/>
          <p:nvPr/>
        </p:nvSpPr>
        <p:spPr>
          <a:xfrm>
            <a:off x="6195853" y="1557840"/>
            <a:ext cx="5208455" cy="1512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minSize</a:t>
            </a:r>
            <a:endParaRPr lang="en-US" sz="1420" dirty="0"/>
          </a:p>
        </p:txBody>
      </p:sp>
      <p:sp>
        <p:nvSpPr>
          <p:cNvPr id="33" name="Text 31"/>
          <p:cNvSpPr/>
          <p:nvPr/>
        </p:nvSpPr>
        <p:spPr>
          <a:xfrm>
            <a:off x="10718933" y="1559110"/>
            <a:ext cx="5208455" cy="1512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42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目标最小尺寸，小于此尺寸的目标将被忽略。</a:t>
            </a:r>
            <a:endParaRPr lang="zh-CN" sz="1420" dirty="0"/>
          </a:p>
        </p:txBody>
      </p:sp>
      <p:pic>
        <p:nvPicPr>
          <p:cNvPr id="34" name="图片 33" descr="sample_lena_compari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9965" y="1974215"/>
            <a:ext cx="9519285" cy="7139940"/>
          </a:xfrm>
          <a:prstGeom prst="rect">
            <a:avLst/>
          </a:prstGeom>
        </p:spPr>
      </p:pic>
      <p:pic>
        <p:nvPicPr>
          <p:cNvPr id="37" name="图片 36" descr="sample_lena_clah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025" y="6725285"/>
            <a:ext cx="3225165" cy="2418715"/>
          </a:xfrm>
          <a:prstGeom prst="rect">
            <a:avLst/>
          </a:prstGeom>
        </p:spPr>
      </p:pic>
      <p:pic>
        <p:nvPicPr>
          <p:cNvPr id="38" name="图片 37" descr="sample_lena_gamma_clah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2190" y="6725285"/>
            <a:ext cx="3184525" cy="23888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242733"/>
              </a:gs>
              <a:gs pos="100000">
                <a:srgbClr val="1A1C23"/>
              </a:gs>
            </a:gsLst>
            <a:path path="circle"/>
          </a:gradFill>
        </p:spPr>
      </p:sp>
      <p:sp>
        <p:nvSpPr>
          <p:cNvPr id="3" name="Text 1"/>
          <p:cNvSpPr/>
          <p:nvPr/>
        </p:nvSpPr>
        <p:spPr>
          <a:xfrm>
            <a:off x="762000" y="2540000"/>
            <a:ext cx="254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6B7FD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762000" y="3746500"/>
            <a:ext cx="762000" cy="508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5" name="Text 3"/>
          <p:cNvSpPr/>
          <p:nvPr/>
        </p:nvSpPr>
        <p:spPr>
          <a:xfrm>
            <a:off x="762000" y="4064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参数优化与实验分析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62000" y="4889500"/>
            <a:ext cx="7620000" cy="44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参数搜索策略、实验设计与结果评估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430000" y="1905000"/>
            <a:ext cx="2540000" cy="2540000"/>
          </a:xfrm>
          <a:prstGeom prst="ellipse">
            <a:avLst/>
          </a:prstGeom>
          <a:solidFill>
            <a:srgbClr val="6B7FD7">
              <a:alpha val="8235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12700000" y="4445000"/>
            <a:ext cx="1905000" cy="1905000"/>
          </a:xfrm>
          <a:prstGeom prst="ellipse">
            <a:avLst/>
          </a:prstGeom>
          <a:solidFill>
            <a:srgbClr val="6B7FD7">
              <a:alpha val="6275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10" name="Text 8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6B7FD7"/>
          </a:solidFill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参数优化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6350000" cy="533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参数优化方案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635000" cy="381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6" name="Shape 4"/>
          <p:cNvSpPr/>
          <p:nvPr/>
        </p:nvSpPr>
        <p:spPr>
          <a:xfrm>
            <a:off x="762000" y="1968500"/>
            <a:ext cx="4699000" cy="24765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7" name="Text 5"/>
          <p:cNvSpPr/>
          <p:nvPr/>
        </p:nvSpPr>
        <p:spPr>
          <a:xfrm>
            <a:off x="1016000" y="20955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scaleFactor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6000" y="2514600"/>
            <a:ext cx="4191000" cy="171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相邻图像金字塔尺度的比例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越接近 1，搜索越细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可能找到更小的人脸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耗时显著增加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968500"/>
            <a:ext cx="4699000" cy="24765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10" name="Text 8"/>
          <p:cNvSpPr/>
          <p:nvPr/>
        </p:nvSpPr>
        <p:spPr>
          <a:xfrm>
            <a:off x="5969000" y="20955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minNeighbors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69000" y="2514600"/>
            <a:ext cx="4191000" cy="171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候选框保留所需邻近矩形数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较低：提高召回率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容易增加误检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较高：更严格，可能漏检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68500"/>
            <a:ext cx="4826000" cy="24765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13" name="Text 11"/>
          <p:cNvSpPr/>
          <p:nvPr/>
        </p:nvSpPr>
        <p:spPr>
          <a:xfrm>
            <a:off x="10922000" y="20955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minSize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22000" y="2514600"/>
            <a:ext cx="4318000" cy="171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最小检测窗口尺寸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减小有利于检测小人脸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搜索量大幅增加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背景误检风险上升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4781550"/>
            <a:ext cx="7239000" cy="3302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16" name="Text 15"/>
          <p:cNvSpPr/>
          <p:nvPr/>
        </p:nvSpPr>
        <p:spPr>
          <a:xfrm>
            <a:off x="1016000" y="490855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无标注代理评分公式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16"/>
              <p:cNvSpPr/>
              <p:nvPr/>
            </p:nvSpPr>
            <p:spPr>
              <a:xfrm>
                <a:off x="1016000" y="5391150"/>
                <a:ext cx="6731000" cy="444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𝑆</m:t>
                      </m:r>
                      <m:r>
                        <a:rPr lang="en-US" sz="1800" i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𝑐</m:t>
                      </m:r>
                      <m:r>
                        <a:rPr lang="en-US" sz="1800" i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𝑜</m:t>
                      </m:r>
                      <m:r>
                        <a:rPr lang="en-US" sz="1800" i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𝑟</m:t>
                      </m:r>
                      <m:r>
                        <a:rPr lang="en-US" sz="1800" i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𝑒</m:t>
                      </m:r>
                      <m:r>
                        <a:rPr lang="en-US" sz="1800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3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FFFFFF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FFFFFF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𝑅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FFFFFF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𝑛</m:t>
                          </m:r>
                          <m:r>
                            <a:rPr lang="en-US" sz="1300" i="1" dirty="0">
                              <a:solidFill>
                                <a:srgbClr val="FFFFFF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𝑜</m:t>
                          </m:r>
                          <m:r>
                            <a:rPr lang="en-US" sz="1300" i="1" dirty="0">
                              <a:solidFill>
                                <a:srgbClr val="FFFFFF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𝑛</m:t>
                          </m:r>
                          <m:r>
                            <a:rPr lang="en-US" sz="1300" i="1" dirty="0">
                              <a:solidFill>
                                <a:srgbClr val="FFFFFF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𝑧</m:t>
                          </m:r>
                          <m:r>
                            <a:rPr lang="en-US" sz="1300" i="1" dirty="0">
                              <a:solidFill>
                                <a:srgbClr val="FFFFFF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𝑒</m:t>
                          </m:r>
                          <m:r>
                            <a:rPr lang="en-US" sz="1300" i="1" dirty="0">
                              <a:solidFill>
                                <a:srgbClr val="FFFFFF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𝑟</m:t>
                          </m:r>
                          <m:r>
                            <a:rPr lang="en-US" sz="1300" i="1" dirty="0">
                              <a:solidFill>
                                <a:srgbClr val="FFFFFF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𝑜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2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FFFFFF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FFFFFF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𝑆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FFFFFF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𝑐</m:t>
                          </m:r>
                          <m:r>
                            <a:rPr lang="en-US" sz="1300" i="1" dirty="0">
                              <a:solidFill>
                                <a:srgbClr val="FFFFFF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𝑜</m:t>
                          </m:r>
                          <m:r>
                            <a:rPr lang="en-US" sz="1300" i="1" dirty="0">
                              <a:solidFill>
                                <a:srgbClr val="FFFFFF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𝑢</m:t>
                          </m:r>
                          <m:r>
                            <a:rPr lang="en-US" sz="1300" i="1" dirty="0">
                              <a:solidFill>
                                <a:srgbClr val="FFFFFF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𝑛</m:t>
                          </m:r>
                          <m:r>
                            <a:rPr lang="en-US" sz="1300" i="1" dirty="0">
                              <a:solidFill>
                                <a:srgbClr val="FFFFFF"/>
                              </a:solidFill>
                              <a:latin typeface="MiSans" pitchFamily="34" charset="-122"/>
                              <a:ea typeface="MiSans" pitchFamily="34" charset="-122"/>
                              <a:cs typeface="MiSans" pitchFamily="34" charset="-120"/>
                            </a:rPr>
                            <m:t>𝑡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0</m:t>
                      </m:r>
                      <m:r>
                        <a:rPr lang="en-US" sz="1800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.</m:t>
                      </m:r>
                      <m:r>
                        <a:rPr lang="en-US" sz="1800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3</m:t>
                      </m:r>
                      <m:r>
                        <a:rPr lang="en-US" sz="1800" i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𝐸</m:t>
                      </m:r>
                      <m:r>
                        <a:rPr lang="en-US" sz="1800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−</m:t>
                      </m:r>
                      <m:r>
                        <a:rPr lang="en-US" sz="1800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0</m:t>
                      </m:r>
                      <m:r>
                        <a:rPr lang="en-US" sz="1800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.</m:t>
                      </m:r>
                      <m:r>
                        <a:rPr lang="en-US" sz="1800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001</m:t>
                      </m:r>
                      <m:r>
                        <a:rPr lang="en-US" sz="1800" i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m:t>𝑇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19" name="Text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5391150"/>
                <a:ext cx="6731000" cy="4445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7"/>
          <p:cNvSpPr/>
          <p:nvPr/>
        </p:nvSpPr>
        <p:spPr>
          <a:xfrm>
            <a:off x="1016000" y="5988050"/>
            <a:ext cx="6731000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R_nonzero</a:t>
            </a:r>
            <a:r>
              <a:rPr lang="en-US" sz="15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：各分支检测到人脸的比例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S_count</a:t>
            </a:r>
            <a:r>
              <a:rPr lang="en-US" sz="15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：人脸数量稳定性 = 1/(1+σ_face)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</a:t>
            </a:r>
            <a:r>
              <a:rPr lang="en-US" sz="15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：每张脸不超过两只眼睛的平均证据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</a:t>
            </a:r>
            <a:r>
              <a:rPr lang="en-US" sz="15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：平均毫秒耗时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F6B6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注意：代理分数只用于缩小候选范围，最终需人工检查可视化结果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22" name="Text 19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6B7FD7"/>
          </a:solidFill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实验方案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6350000" cy="533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实验方案与测试数据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635000" cy="381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6" name="Text 4"/>
          <p:cNvSpPr/>
          <p:nvPr/>
        </p:nvSpPr>
        <p:spPr>
          <a:xfrm>
            <a:off x="762000" y="19050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测试图像（512×512 单人）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2413000"/>
            <a:ext cx="4699000" cy="1524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8" name="Shape 6"/>
          <p:cNvSpPr/>
          <p:nvPr/>
        </p:nvSpPr>
        <p:spPr>
          <a:xfrm>
            <a:off x="1016000" y="279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25730" y="-8017"/>
                </a:moveTo>
                <a:cubicBezTo>
                  <a:pt x="130951" y="-10477"/>
                  <a:pt x="136878" y="-9763"/>
                  <a:pt x="141605" y="-6271"/>
                </a:cubicBezTo>
                <a:lnTo>
                  <a:pt x="203553" y="39926"/>
                </a:lnTo>
                <a:lnTo>
                  <a:pt x="265501" y="-6271"/>
                </a:lnTo>
                <a:cubicBezTo>
                  <a:pt x="270228" y="-9763"/>
                  <a:pt x="276154" y="-10398"/>
                  <a:pt x="281376" y="-8017"/>
                </a:cubicBezTo>
                <a:cubicBezTo>
                  <a:pt x="286597" y="-5636"/>
                  <a:pt x="290266" y="-397"/>
                  <a:pt x="291394" y="5794"/>
                </a:cubicBezTo>
                <a:lnTo>
                  <a:pt x="306141" y="87709"/>
                </a:lnTo>
                <a:lnTo>
                  <a:pt x="378954" y="104299"/>
                </a:lnTo>
                <a:cubicBezTo>
                  <a:pt x="384457" y="105569"/>
                  <a:pt x="389114" y="109855"/>
                  <a:pt x="391231" y="115649"/>
                </a:cubicBezTo>
                <a:cubicBezTo>
                  <a:pt x="393347" y="121444"/>
                  <a:pt x="392783" y="128191"/>
                  <a:pt x="389678" y="133509"/>
                </a:cubicBezTo>
                <a:lnTo>
                  <a:pt x="348615" y="203200"/>
                </a:lnTo>
                <a:lnTo>
                  <a:pt x="389678" y="272891"/>
                </a:lnTo>
                <a:cubicBezTo>
                  <a:pt x="392783" y="278209"/>
                  <a:pt x="393347" y="284877"/>
                  <a:pt x="391231" y="290751"/>
                </a:cubicBezTo>
                <a:cubicBezTo>
                  <a:pt x="389114" y="296624"/>
                  <a:pt x="384457" y="300911"/>
                  <a:pt x="378954" y="302101"/>
                </a:cubicBezTo>
                <a:lnTo>
                  <a:pt x="306070" y="318611"/>
                </a:lnTo>
                <a:lnTo>
                  <a:pt x="291394" y="400606"/>
                </a:lnTo>
                <a:cubicBezTo>
                  <a:pt x="290266" y="406797"/>
                  <a:pt x="286456" y="412036"/>
                  <a:pt x="281305" y="414417"/>
                </a:cubicBezTo>
                <a:cubicBezTo>
                  <a:pt x="276154" y="416798"/>
                  <a:pt x="270157" y="416163"/>
                  <a:pt x="265430" y="412671"/>
                </a:cubicBezTo>
                <a:lnTo>
                  <a:pt x="203482" y="366474"/>
                </a:lnTo>
                <a:lnTo>
                  <a:pt x="141534" y="412671"/>
                </a:lnTo>
                <a:cubicBezTo>
                  <a:pt x="136807" y="416163"/>
                  <a:pt x="130881" y="416798"/>
                  <a:pt x="125659" y="414417"/>
                </a:cubicBezTo>
                <a:cubicBezTo>
                  <a:pt x="120438" y="412036"/>
                  <a:pt x="116628" y="406797"/>
                  <a:pt x="115570" y="400606"/>
                </a:cubicBezTo>
                <a:lnTo>
                  <a:pt x="100894" y="318611"/>
                </a:lnTo>
                <a:lnTo>
                  <a:pt x="28011" y="302022"/>
                </a:lnTo>
                <a:cubicBezTo>
                  <a:pt x="22507" y="300752"/>
                  <a:pt x="17851" y="296466"/>
                  <a:pt x="15734" y="290671"/>
                </a:cubicBezTo>
                <a:cubicBezTo>
                  <a:pt x="13617" y="284877"/>
                  <a:pt x="14182" y="278130"/>
                  <a:pt x="17286" y="272812"/>
                </a:cubicBezTo>
                <a:lnTo>
                  <a:pt x="58349" y="203200"/>
                </a:lnTo>
                <a:lnTo>
                  <a:pt x="17286" y="133509"/>
                </a:lnTo>
                <a:cubicBezTo>
                  <a:pt x="14182" y="128191"/>
                  <a:pt x="13617" y="121523"/>
                  <a:pt x="15734" y="115649"/>
                </a:cubicBezTo>
                <a:cubicBezTo>
                  <a:pt x="17851" y="109776"/>
                  <a:pt x="22507" y="105489"/>
                  <a:pt x="28011" y="104299"/>
                </a:cubicBezTo>
                <a:lnTo>
                  <a:pt x="100894" y="87789"/>
                </a:lnTo>
                <a:lnTo>
                  <a:pt x="115641" y="5794"/>
                </a:lnTo>
                <a:cubicBezTo>
                  <a:pt x="116769" y="-397"/>
                  <a:pt x="120579" y="-5636"/>
                  <a:pt x="125730" y="-8017"/>
                </a:cubicBezTo>
                <a:close/>
                <a:moveTo>
                  <a:pt x="146473" y="203200"/>
                </a:moveTo>
                <a:cubicBezTo>
                  <a:pt x="146473" y="180400"/>
                  <a:pt x="157285" y="159332"/>
                  <a:pt x="174837" y="147932"/>
                </a:cubicBezTo>
                <a:cubicBezTo>
                  <a:pt x="192388" y="136533"/>
                  <a:pt x="214012" y="136533"/>
                  <a:pt x="231563" y="147932"/>
                </a:cubicBezTo>
                <a:cubicBezTo>
                  <a:pt x="249115" y="159332"/>
                  <a:pt x="259927" y="180400"/>
                  <a:pt x="259927" y="203200"/>
                </a:cubicBezTo>
                <a:cubicBezTo>
                  <a:pt x="259927" y="238422"/>
                  <a:pt x="234508" y="267017"/>
                  <a:pt x="203200" y="267017"/>
                </a:cubicBezTo>
                <a:cubicBezTo>
                  <a:pt x="171892" y="267017"/>
                  <a:pt x="146473" y="238422"/>
                  <a:pt x="146473" y="203200"/>
                </a:cubicBezTo>
                <a:close/>
                <a:moveTo>
                  <a:pt x="293793" y="203200"/>
                </a:moveTo>
                <a:cubicBezTo>
                  <a:pt x="293793" y="146950"/>
                  <a:pt x="253200" y="101283"/>
                  <a:pt x="203200" y="101283"/>
                </a:cubicBezTo>
                <a:cubicBezTo>
                  <a:pt x="153200" y="101283"/>
                  <a:pt x="112607" y="146950"/>
                  <a:pt x="112607" y="203200"/>
                </a:cubicBezTo>
                <a:cubicBezTo>
                  <a:pt x="112607" y="239612"/>
                  <a:pt x="129874" y="273257"/>
                  <a:pt x="157903" y="291463"/>
                </a:cubicBezTo>
                <a:cubicBezTo>
                  <a:pt x="185933" y="309669"/>
                  <a:pt x="220467" y="309669"/>
                  <a:pt x="248497" y="291463"/>
                </a:cubicBezTo>
                <a:cubicBezTo>
                  <a:pt x="276526" y="273257"/>
                  <a:pt x="293793" y="239612"/>
                  <a:pt x="293793" y="203200"/>
                </a:cubicBezTo>
                <a:close/>
              </a:path>
            </a:pathLst>
          </a:custGeom>
          <a:solidFill>
            <a:srgbClr val="F5A623"/>
          </a:solidFill>
        </p:spPr>
      </p:sp>
      <p:sp>
        <p:nvSpPr>
          <p:cNvPr id="9" name="Text 7"/>
          <p:cNvSpPr/>
          <p:nvPr/>
        </p:nvSpPr>
        <p:spPr>
          <a:xfrm>
            <a:off x="1587500" y="2603500"/>
            <a:ext cx="3556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正常光照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87500" y="2984500"/>
            <a:ext cx="3556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sample_lena.jpg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OpenCV官方示例图，基线对照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2413000"/>
            <a:ext cx="4699000" cy="1524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12" name="Shape 10"/>
          <p:cNvSpPr/>
          <p:nvPr/>
        </p:nvSpPr>
        <p:spPr>
          <a:xfrm>
            <a:off x="5969000" y="279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90964" y="0"/>
                  <a:pt x="0" y="90964"/>
                  <a:pt x="0" y="203200"/>
                </a:cubicBezTo>
                <a:cubicBezTo>
                  <a:pt x="0" y="315436"/>
                  <a:pt x="90964" y="406400"/>
                  <a:pt x="203200" y="406400"/>
                </a:cubicBezTo>
                <a:cubicBezTo>
                  <a:pt x="257810" y="406400"/>
                  <a:pt x="307419" y="384810"/>
                  <a:pt x="343932" y="349726"/>
                </a:cubicBezTo>
                <a:cubicBezTo>
                  <a:pt x="349726" y="344170"/>
                  <a:pt x="351393" y="335518"/>
                  <a:pt x="348139" y="328216"/>
                </a:cubicBezTo>
                <a:cubicBezTo>
                  <a:pt x="344884" y="320913"/>
                  <a:pt x="337264" y="316389"/>
                  <a:pt x="329248" y="317024"/>
                </a:cubicBezTo>
                <a:cubicBezTo>
                  <a:pt x="325358" y="317341"/>
                  <a:pt x="321469" y="317500"/>
                  <a:pt x="317500" y="317500"/>
                </a:cubicBezTo>
                <a:cubicBezTo>
                  <a:pt x="236855" y="317500"/>
                  <a:pt x="171450" y="252095"/>
                  <a:pt x="171450" y="171450"/>
                </a:cubicBezTo>
                <a:cubicBezTo>
                  <a:pt x="171450" y="114221"/>
                  <a:pt x="204391" y="64611"/>
                  <a:pt x="252492" y="40640"/>
                </a:cubicBezTo>
                <a:cubicBezTo>
                  <a:pt x="259715" y="37068"/>
                  <a:pt x="263843" y="29289"/>
                  <a:pt x="262890" y="21272"/>
                </a:cubicBezTo>
                <a:cubicBezTo>
                  <a:pt x="261938" y="13256"/>
                  <a:pt x="256064" y="6747"/>
                  <a:pt x="248206" y="5001"/>
                </a:cubicBezTo>
                <a:cubicBezTo>
                  <a:pt x="233680" y="1746"/>
                  <a:pt x="218599" y="0"/>
                  <a:pt x="203200" y="0"/>
                </a:cubicBezTo>
                <a:close/>
              </a:path>
            </a:pathLst>
          </a:custGeom>
          <a:solidFill>
            <a:srgbClr val="7B8EDE"/>
          </a:solidFill>
        </p:spPr>
      </p:sp>
      <p:sp>
        <p:nvSpPr>
          <p:cNvPr id="13" name="Text 11"/>
          <p:cNvSpPr/>
          <p:nvPr/>
        </p:nvSpPr>
        <p:spPr>
          <a:xfrm>
            <a:off x="6540500" y="2603500"/>
            <a:ext cx="3556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弱光图像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40500" y="2984500"/>
            <a:ext cx="3556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sample_lowlight.jpg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像素强度×0.28模拟弱光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668000" y="2413000"/>
            <a:ext cx="4826000" cy="1524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16" name="Shape 14"/>
          <p:cNvSpPr/>
          <p:nvPr/>
        </p:nvSpPr>
        <p:spPr>
          <a:xfrm>
            <a:off x="10922000" y="2794000"/>
            <a:ext cx="406400" cy="406400"/>
          </a:xfrm>
          <a:prstGeom prst="ellipse">
            <a:avLst/>
          </a:prstGeom>
          <a:solidFill>
            <a:srgbClr val="E85D75"/>
          </a:solidFill>
        </p:spPr>
      </p:sp>
      <p:sp>
        <p:nvSpPr>
          <p:cNvPr id="17" name="Text 15"/>
          <p:cNvSpPr/>
          <p:nvPr/>
        </p:nvSpPr>
        <p:spPr>
          <a:xfrm>
            <a:off x="11493500" y="2603500"/>
            <a:ext cx="3683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高斯噪声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93500" y="2984500"/>
            <a:ext cx="3683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sample_noise.jpg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标准差约28的零均值高斯噪声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2000" y="4254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实验步骤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62000" y="4699000"/>
            <a:ext cx="7620000" cy="355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1.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运行批处理命令：python main.py --batch data/raw --output results/detection --optimize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2.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对每张图片生成七种预处理分支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3.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候选参数逐组检测，代理分数选最优组合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4.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保存每个分支的检测图和对比图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5.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从 JSON/CSV 汇总人脸数、人眼数、耗时和稳定性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6.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人工查看检测框，判断误检和漏检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890000" y="4254500"/>
            <a:ext cx="6604000" cy="40005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22" name="Text 20"/>
          <p:cNvSpPr/>
          <p:nvPr/>
        </p:nvSpPr>
        <p:spPr>
          <a:xfrm>
            <a:off x="9144000" y="4381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评价指标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0" y="4826000"/>
            <a:ext cx="6096000" cy="323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人脸检测数量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：各分支检出人脸数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人眼检测数量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：眼部特征检出数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单次检测耗时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：毫秒级性能评估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跨分支一致性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：人脸数量一致比例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人工观察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：框位置、漏检、误检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200"/>
              </a:spcBef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25" name="Text 23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6B7FD7"/>
          </a:solidFill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实验结果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6350000" cy="533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实验结果</a:t>
            </a:r>
            <a:r>
              <a:rPr lang="zh-CN" altLang="en-US" sz="3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</a:t>
            </a:r>
            <a:endParaRPr lang="zh-CN" altLang="en-US" sz="30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635000" cy="381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15" name="Shape 11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16" name="Text 12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19</a:t>
            </a:r>
            <a:endParaRPr lang="en-US" sz="1400" dirty="0"/>
          </a:p>
        </p:txBody>
      </p:sp>
      <p:pic>
        <p:nvPicPr>
          <p:cNvPr id="6" name="图片 5" descr="gui_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2050" y="1549400"/>
            <a:ext cx="10521950" cy="697166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52170" y="2225675"/>
            <a:ext cx="3579495" cy="5366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sz="20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 Gamma 校正、高斯去噪、CLAHE 组合预处理，基于选定参数 scaleFactor=1.10、minNeighbors=5 完成检测，成功识别 1 张人脸与 2 个人眼，单次运行耗时 754.53ms。</a:t>
            </a:r>
            <a:endParaRPr lang="en-US" sz="2000" dirty="0">
              <a:solidFill>
                <a:srgbClr val="E8EAF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l"/>
            <a:endParaRPr lang="en-US" sz="2000" dirty="0">
              <a:solidFill>
                <a:srgbClr val="E8EAF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l"/>
            <a:r>
              <a:rPr lang="en-US" sz="20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整套参数兼顾检索精细度与检测稳定性，无漏检、误检，依托无标注代理评分筛选后，在正常光照标准图上实现了均衡的检测性能。</a:t>
            </a:r>
            <a:endParaRPr lang="en-US" sz="2000" dirty="0">
              <a:solidFill>
                <a:srgbClr val="E8EAF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242733"/>
              </a:gs>
              <a:gs pos="100000">
                <a:srgbClr val="1A1C23"/>
              </a:gs>
            </a:gsLst>
            <a:path path="circle"/>
          </a:gradFill>
        </p:spPr>
      </p:sp>
      <p:sp>
        <p:nvSpPr>
          <p:cNvPr id="3" name="Text 1"/>
          <p:cNvSpPr/>
          <p:nvPr/>
        </p:nvSpPr>
        <p:spPr>
          <a:xfrm>
            <a:off x="762000" y="2540000"/>
            <a:ext cx="254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6B7FD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762000" y="3746500"/>
            <a:ext cx="762000" cy="508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5" name="Text 3"/>
          <p:cNvSpPr/>
          <p:nvPr/>
        </p:nvSpPr>
        <p:spPr>
          <a:xfrm>
            <a:off x="762000" y="4064000"/>
            <a:ext cx="635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问题总结与展望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62000" y="4889500"/>
            <a:ext cx="7620000" cy="44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遇到的问题、解决方案、设计总结与未来方向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430000" y="1905000"/>
            <a:ext cx="2540000" cy="2540000"/>
          </a:xfrm>
          <a:prstGeom prst="ellipse">
            <a:avLst/>
          </a:prstGeom>
          <a:solidFill>
            <a:srgbClr val="6B7FD7">
              <a:alpha val="8235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12700000" y="4445000"/>
            <a:ext cx="1905000" cy="1905000"/>
          </a:xfrm>
          <a:prstGeom prst="ellipse">
            <a:avLst/>
          </a:prstGeom>
          <a:solidFill>
            <a:srgbClr val="6B7FD7">
              <a:alpha val="6275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10" name="Text 8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6B7FD7"/>
          </a:solidFill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问题解决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7620000" cy="533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遇到的问题及解决方案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635000" cy="38100"/>
          </a:xfrm>
          <a:prstGeom prst="rect">
            <a:avLst/>
          </a:prstGeom>
          <a:solidFill>
            <a:srgbClr val="6B7FD7"/>
          </a:solidFill>
        </p:spPr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762000" y="1968500"/>
          <a:ext cx="14732000" cy="6223000"/>
        </p:xfrm>
        <a:graphic>
          <a:graphicData uri="http://schemas.openxmlformats.org/drawingml/2006/table">
            <a:tbl>
              <a:tblPr/>
              <a:tblGrid>
                <a:gridCol w="2946400"/>
                <a:gridCol w="4124960"/>
                <a:gridCol w="4419600"/>
                <a:gridCol w="3241040"/>
              </a:tblGrid>
              <a:tr h="6223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问题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F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原因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F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解决方案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F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最终效果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FD7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中文路径读取失败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cv2.imread在部分Windows环境处理中文路径不稳定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numpy.fromfile读取字节 + cv2.imdecode解码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中文路径图像正常读写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全局均衡放大噪声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噪声图做全局均衡后颗粒更加明显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增加"滤波+CLAHE"分支，限制对比度增益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噪声抑制后检测更稳定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人眼漏检/多检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整图搜索易把背景纹理当成眼睛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限制人脸上部65%区域，最多保留两个大候选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误检显著减少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大角度侧脸漏检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正面分类器对大角度偏转能力有限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客观说明局限，后续增加侧脸级联或DNN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正面和轻度偏转稳定检测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无标注难评准确率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仅统计数量会把误检算作结果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同时保存可视化图/稳定性/耗时，明确代理指标限制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8EAF0"/>
                          </a:solidFill>
                          <a:latin typeface="MiSans" pitchFamily="34" charset="-122"/>
                          <a:ea typeface="MiSans" pitchFamily="34" charset="-122"/>
                          <a:cs typeface="MiSans" pitchFamily="34" charset="-120"/>
                        </a:rPr>
                        <a:t>多维度评价更客观</a:t>
                      </a:r>
                      <a:endParaRPr lang="en-US" sz="1500" dirty="0">
                        <a:latin typeface="MiSans" pitchFamily="34" charset="-122"/>
                        <a:ea typeface="MiSans" pitchFamily="34" charset="-122"/>
                        <a:cs typeface="MiSans" pitchFamily="34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8280400"/>
            <a:ext cx="101600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所有问题均通过工程实践和文献调研找到合理解决方案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9" name="Text 6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6B7FD7"/>
          </a:solidFill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总结展望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7620000" cy="533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课程设计总结与未来展望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635000" cy="381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6" name="Text 4"/>
          <p:cNvSpPr/>
          <p:nvPr/>
        </p:nvSpPr>
        <p:spPr>
          <a:xfrm>
            <a:off x="762000" y="1968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项目成果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24765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8" name="Text 6"/>
          <p:cNvSpPr/>
          <p:nvPr/>
        </p:nvSpPr>
        <p:spPr>
          <a:xfrm>
            <a:off x="1016000" y="2667000"/>
            <a:ext cx="6604000" cy="317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1.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完成模块化、可批处理、可配置的检测系统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2.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实现 7 种预处理分支对比实验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3.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完成多预处理对比、结果保存与指标导出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4.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理解预处理不是越多越好，参数需按场景折中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5.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参数优化需在速度/误检/漏检间平衡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6.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建立无标注代理评价体系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1968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A8B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未来展望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382000" y="24765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11" name="Text 9"/>
          <p:cNvSpPr/>
          <p:nvPr/>
        </p:nvSpPr>
        <p:spPr>
          <a:xfrm>
            <a:off x="8636000" y="2667000"/>
            <a:ext cx="6604000" cy="317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1.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扩大测试集并增加人工标注框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2.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计算 Precision / Recall / IoU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3.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增加侧脸级联分类器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4.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改用 OpenCV DNN / 深度学习检测器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5.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加入摄像头实时输入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6.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支持更多图像增强算法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350000"/>
            <a:ext cx="14732000" cy="1841500"/>
          </a:xfrm>
          <a:prstGeom prst="roundRect">
            <a:avLst>
              <a:gd name="adj" fmla="val 6000"/>
            </a:avLst>
          </a:prstGeom>
          <a:solidFill>
            <a:srgbClr val="242733"/>
          </a:solidFill>
        </p:spPr>
      </p:sp>
      <p:sp>
        <p:nvSpPr>
          <p:cNvPr id="13" name="Shape 11"/>
          <p:cNvSpPr/>
          <p:nvPr/>
        </p:nvSpPr>
        <p:spPr>
          <a:xfrm>
            <a:off x="1016000" y="660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3777" y="-11251"/>
                </a:moveTo>
                <a:cubicBezTo>
                  <a:pt x="161607" y="-16014"/>
                  <a:pt x="157215" y="-19050"/>
                  <a:pt x="152453" y="-19050"/>
                </a:cubicBezTo>
                <a:cubicBezTo>
                  <a:pt x="147690" y="-19050"/>
                  <a:pt x="143298" y="-16014"/>
                  <a:pt x="141129" y="-11251"/>
                </a:cubicBezTo>
                <a:lnTo>
                  <a:pt x="102182" y="74593"/>
                </a:lnTo>
                <a:lnTo>
                  <a:pt x="17568" y="89714"/>
                </a:lnTo>
                <a:cubicBezTo>
                  <a:pt x="12859" y="90547"/>
                  <a:pt x="8943" y="94298"/>
                  <a:pt x="7461" y="99417"/>
                </a:cubicBezTo>
                <a:cubicBezTo>
                  <a:pt x="5980" y="104537"/>
                  <a:pt x="7197" y="110133"/>
                  <a:pt x="10530" y="113943"/>
                </a:cubicBezTo>
                <a:lnTo>
                  <a:pt x="71067" y="182106"/>
                </a:lnTo>
                <a:lnTo>
                  <a:pt x="57732" y="277297"/>
                </a:lnTo>
                <a:cubicBezTo>
                  <a:pt x="56991" y="282595"/>
                  <a:pt x="58949" y="287953"/>
                  <a:pt x="62812" y="291108"/>
                </a:cubicBezTo>
                <a:cubicBezTo>
                  <a:pt x="66675" y="294263"/>
                  <a:pt x="71755" y="294739"/>
                  <a:pt x="76041" y="292298"/>
                </a:cubicBezTo>
                <a:lnTo>
                  <a:pt x="152453" y="248603"/>
                </a:lnTo>
                <a:lnTo>
                  <a:pt x="228812" y="292298"/>
                </a:lnTo>
                <a:cubicBezTo>
                  <a:pt x="233045" y="294739"/>
                  <a:pt x="238178" y="294263"/>
                  <a:pt x="242041" y="291108"/>
                </a:cubicBezTo>
                <a:cubicBezTo>
                  <a:pt x="245904" y="287953"/>
                  <a:pt x="247862" y="282654"/>
                  <a:pt x="247121" y="277297"/>
                </a:cubicBezTo>
                <a:lnTo>
                  <a:pt x="233733" y="182106"/>
                </a:lnTo>
                <a:lnTo>
                  <a:pt x="294270" y="113943"/>
                </a:lnTo>
                <a:cubicBezTo>
                  <a:pt x="297656" y="110133"/>
                  <a:pt x="298820" y="104537"/>
                  <a:pt x="297339" y="99417"/>
                </a:cubicBezTo>
                <a:cubicBezTo>
                  <a:pt x="295857" y="94298"/>
                  <a:pt x="291994" y="90547"/>
                  <a:pt x="287232" y="89714"/>
                </a:cubicBezTo>
                <a:lnTo>
                  <a:pt x="202671" y="74593"/>
                </a:lnTo>
                <a:lnTo>
                  <a:pt x="163777" y="-11251"/>
                </a:lnTo>
                <a:close/>
              </a:path>
            </a:pathLst>
          </a:custGeom>
          <a:solidFill>
            <a:srgbClr val="A8B8E8"/>
          </a:solidFill>
        </p:spPr>
      </p:sp>
      <p:sp>
        <p:nvSpPr>
          <p:cNvPr id="14" name="Text 12"/>
          <p:cNvSpPr/>
          <p:nvPr/>
        </p:nvSpPr>
        <p:spPr>
          <a:xfrm>
            <a:off x="1422400" y="65786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核心体会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16000" y="7048500"/>
            <a:ext cx="142240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预处理的价值取决于退化类型；在质量较好的图像上，额外处理可能收益很小；在高斯噪声下，</a:t>
            </a: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先去噪再做局部增强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能改善眼部细节。参数优化不能只追求"检测框越多越好"，必须在</a:t>
            </a:r>
            <a:r>
              <a:rPr lang="en-US" sz="1600" b="1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速度、误检和漏检之间做平衡</a:t>
            </a:r>
            <a:r>
              <a:rPr lang="en-US" sz="16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17" name="Text 15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6B7FD7"/>
          </a:solidFill>
        </p:spPr>
      </p:sp>
      <p:sp>
        <p:nvSpPr>
          <p:cNvPr id="3" name="Text 1"/>
          <p:cNvSpPr/>
          <p:nvPr/>
        </p:nvSpPr>
        <p:spPr>
          <a:xfrm>
            <a:off x="762000" y="508000"/>
            <a:ext cx="127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参考文献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6350000" cy="533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参考文献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635000" cy="381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6" name="Text 4"/>
          <p:cNvSpPr/>
          <p:nvPr/>
        </p:nvSpPr>
        <p:spPr>
          <a:xfrm>
            <a:off x="762000" y="1968500"/>
            <a:ext cx="14732000" cy="63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90000"/>
              </a:lnSpc>
            </a:pPr>
            <a:r>
              <a:rPr lang="en-US" sz="15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[1] P. Viola, M. Jones. Rapid Object Detection using a Boosted Cascade of Simple Features[C]. CVPR, 2001.</a:t>
            </a:r>
            <a:endParaRPr lang="en-US" sz="1500" dirty="0"/>
          </a:p>
          <a:p>
            <a:pPr algn="l">
              <a:lnSpc>
                <a:spcPct val="190000"/>
              </a:lnSpc>
            </a:pPr>
            <a:r>
              <a:rPr lang="en-US" sz="15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[2] P. Viola, M. Jones. Robust Real-Time Face Detection[J]. International Journal of Computer Vision, 2004, 57(2): 137-154.</a:t>
            </a:r>
            <a:endParaRPr lang="en-US" sz="1500" dirty="0"/>
          </a:p>
          <a:p>
            <a:pPr algn="l">
              <a:lnSpc>
                <a:spcPct val="190000"/>
              </a:lnSpc>
            </a:pPr>
            <a:r>
              <a:rPr lang="en-US" sz="15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[3] R. C. Gonzalez, R. E. Woods. Digital Image Processing[M]. 4th ed. Pearson, 2018.</a:t>
            </a:r>
            <a:endParaRPr lang="en-US" sz="1500" dirty="0"/>
          </a:p>
          <a:p>
            <a:pPr algn="l">
              <a:lnSpc>
                <a:spcPct val="190000"/>
              </a:lnSpc>
            </a:pPr>
            <a:r>
              <a:rPr lang="en-US" sz="15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[4] G. Bradski, A. Kaehler. Learning OpenCV[M]. O'Reilly Media, 2008.</a:t>
            </a:r>
            <a:endParaRPr lang="en-US" sz="1500" dirty="0"/>
          </a:p>
          <a:p>
            <a:pPr algn="l">
              <a:lnSpc>
                <a:spcPct val="190000"/>
              </a:lnSpc>
            </a:pPr>
            <a:r>
              <a:rPr lang="en-US" sz="15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[5] OpenCV Documentation. Cascade Classifier[EB/OL]. </a:t>
            </a:r>
            <a:r>
              <a:rPr lang="en-US" sz="1500" u="sng" dirty="0">
                <a:solidFill>
                  <a:srgbClr val="E8EAF0"/>
                </a:solidFill>
                <a:uFill>
                  <a:solidFill>
                    <a:srgbClr val="E8EAF0"/>
                  </a:solidFill>
                </a:uFill>
                <a:latin typeface="MiSans" pitchFamily="34" charset="-122"/>
                <a:ea typeface="MiSans" pitchFamily="34" charset="-122"/>
                <a:cs typeface="MiSans" pitchFamily="34" charset="-120"/>
                <a:hlinkClick r:id="rId1" action="ppaction://hlinkfile"/>
              </a:rPr>
              <a:t>https://docs.opencv.org/4.x/db/d28/tutorial_cascade_classifier.html</a:t>
            </a:r>
            <a:endParaRPr lang="en-US" sz="1500" dirty="0"/>
          </a:p>
          <a:p>
            <a:pPr algn="l">
              <a:lnSpc>
                <a:spcPct val="190000"/>
              </a:lnSpc>
            </a:pPr>
            <a:r>
              <a:rPr lang="en-US" sz="15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[6] K. Zuiderveld. Contrast Limited Adaptive Histogram Equalization[A]. Graphics Gems IV[C]. Academic Press, 1994.</a:t>
            </a:r>
            <a:endParaRPr lang="en-US" sz="1500" dirty="0"/>
          </a:p>
          <a:p>
            <a:pPr algn="l">
              <a:lnSpc>
                <a:spcPct val="190000"/>
              </a:lnSpc>
            </a:pPr>
            <a:r>
              <a:rPr lang="en-US" sz="15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[7] OpenCV Documentation. Histogram Equalization[EB/OL]. </a:t>
            </a:r>
            <a:r>
              <a:rPr lang="en-US" sz="1500" u="sng" dirty="0">
                <a:solidFill>
                  <a:srgbClr val="E8EAF0"/>
                </a:solidFill>
                <a:uFill>
                  <a:solidFill>
                    <a:srgbClr val="E8EAF0"/>
                  </a:solidFill>
                </a:uFill>
                <a:latin typeface="MiSans" pitchFamily="34" charset="-122"/>
                <a:ea typeface="MiSans" pitchFamily="34" charset="-122"/>
                <a:cs typeface="MiSans" pitchFamily="34" charset="-120"/>
                <a:hlinkClick r:id="rId2" action="ppaction://hlinkfile"/>
              </a:rPr>
              <a:t>https://docs.opencv.org/4.x/d4/d1b/tutorial_histogram_equalization.html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8" name="Text 6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0" y="1270000"/>
            <a:ext cx="5080000" cy="5080000"/>
          </a:xfrm>
          <a:prstGeom prst="ellipse">
            <a:avLst/>
          </a:prstGeom>
          <a:solidFill>
            <a:srgbClr val="6B7FD7">
              <a:alpha val="6275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2540000" y="3810000"/>
            <a:ext cx="3810000" cy="3810000"/>
          </a:xfrm>
          <a:prstGeom prst="ellipse">
            <a:avLst/>
          </a:prstGeom>
          <a:solidFill>
            <a:srgbClr val="6B7FD7">
              <a:alpha val="3137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9906000" y="3556000"/>
            <a:ext cx="4445000" cy="4445000"/>
          </a:xfrm>
          <a:prstGeom prst="ellipse">
            <a:avLst/>
          </a:prstGeom>
          <a:solidFill>
            <a:srgbClr val="6B7FD8">
              <a:alpha val="3137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048000" y="2794000"/>
            <a:ext cx="10160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6858000" y="3873500"/>
            <a:ext cx="2540000" cy="381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7" name="Text 5"/>
          <p:cNvSpPr/>
          <p:nvPr/>
        </p:nvSpPr>
        <p:spPr>
          <a:xfrm>
            <a:off x="3048000" y="4127500"/>
            <a:ext cx="10160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 Python + OpenCV 的人脸图像预处理及人脸检测系统设计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18000" y="5080000"/>
            <a:ext cx="7620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姓名：唐宇正　　学号：20234080415　　班级：23数据04班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E8EA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欢迎老师批评指正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A4055"/>
          </a:solidFill>
        </p:spPr>
      </p:sp>
      <p:sp>
        <p:nvSpPr>
          <p:cNvPr id="10" name="Text 8"/>
          <p:cNvSpPr/>
          <p:nvPr/>
        </p:nvSpPr>
        <p:spPr>
          <a:xfrm>
            <a:off x="14732000" y="8699500"/>
            <a:ext cx="762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2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3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4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5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6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7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8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9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10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11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12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13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14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15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16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17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18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19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20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21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22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23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24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25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26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27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ags/tag28.xml><?xml version="1.0" encoding="utf-8"?>
<p:tagLst xmlns:p="http://schemas.openxmlformats.org/presentationml/2006/main">
  <p:tag name="KSO_WM_DIAGRAM_VIRTUALLY_FRAME" val="{&quot;height&quot;:300,&quot;left&quot;:60,&quot;top&quot;:340,&quot;width&quot;:1160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7202</Words>
  <Application>WPS 演示</Application>
  <PresentationFormat>On-screen Show (16:9)</PresentationFormat>
  <Paragraphs>822</Paragraphs>
  <Slides>26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55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Cambria Math</vt:lpstr>
      <vt:lpstr>Bitter</vt:lpstr>
      <vt:lpstr>FFont-Family</vt:lpstr>
      <vt:lpstr>Bitter</vt:lpstr>
      <vt:lpstr>Bitter</vt:lpstr>
      <vt:lpstr>Outfit Bold</vt:lpstr>
      <vt:lpstr>Outfit Bold</vt:lpstr>
      <vt:lpstr>Outfit Bold</vt:lpstr>
      <vt:lpstr>Bitter Bold</vt:lpstr>
      <vt:lpstr>Bitter Bold</vt:lpstr>
      <vt:lpstr>Bitter Bold</vt:lpstr>
      <vt:lpstr>MingLiU-ExtB</vt:lpstr>
      <vt:lpstr>Outfit Light</vt:lpstr>
      <vt:lpstr>Outfit Light</vt:lpstr>
      <vt:lpstr>Outfit Light</vt:lpstr>
      <vt:lpstr>Consolas</vt:lpstr>
      <vt:lpstr>Consolas</vt:lpstr>
      <vt:lpstr>Consolas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Python + OpenCV 的人脸图像预处理及人脸检测系统设计</dc:title>
  <dc:creator>Kimi</dc:creator>
  <dc:subject>基于 Python + OpenCV 的人脸图像预处理及人脸检测系统设计</dc:subject>
  <cp:lastModifiedBy>WPS_1686629638</cp:lastModifiedBy>
  <cp:revision>4</cp:revision>
  <dcterms:created xsi:type="dcterms:W3CDTF">2026-07-05T07:06:00Z</dcterms:created>
  <dcterms:modified xsi:type="dcterms:W3CDTF">2026-07-05T11:36:33Z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{"Label":"基于 Python + OpenCV 的人脸图像预处理及人脸检测系统设计","ContentProducer":"001191110108MACG2KBH8F10000","ProduceID":"19f30f8e-3812-8c16-8000-00002256f49f","ReservedCode1":"","ContentPropagator":"001191110108MACG2KBH8F20000","PropagateID":"19f30f3d-fab2-8610-8000-09602d304e3e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A1F6AB4CE9764149BE93611ED10A40DD_12</vt:lpwstr>
  </property>
</Properties>
</file>